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9" r:id="rId3"/>
    <p:sldId id="260" r:id="rId4"/>
    <p:sldId id="262" r:id="rId5"/>
    <p:sldId id="261" r:id="rId6"/>
    <p:sldId id="264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9144000" cy="6858000" type="screen4x3"/>
  <p:notesSz cx="6858000" cy="9144000"/>
  <p:defaultTextStyle>
    <a:defPPr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predefinita" id="{E376C067-160F-3B41-86F3-6D9288E7AFF0}">
          <p14:sldIdLst>
            <p14:sldId id="256"/>
            <p14:sldId id="259"/>
            <p14:sldId id="260"/>
            <p14:sldId id="262"/>
            <p14:sldId id="261"/>
            <p14:sldId id="264"/>
            <p14:sldId id="263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806">
          <p15:clr>
            <a:srgbClr val="A4A3A4"/>
          </p15:clr>
        </p15:guide>
        <p15:guide id="2" pos="4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F1F1"/>
    <a:srgbClr val="134979"/>
    <a:srgbClr val="003257"/>
    <a:srgbClr val="0030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Stile chiaro 1 - Color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63" autoAdjust="0"/>
    <p:restoredTop sz="84238"/>
  </p:normalViewPr>
  <p:slideViewPr>
    <p:cSldViewPr snapToGrid="0" snapToObjects="1">
      <p:cViewPr varScale="1">
        <p:scale>
          <a:sx n="113" d="100"/>
          <a:sy n="113" d="100"/>
        </p:scale>
        <p:origin x="1504" y="176"/>
      </p:cViewPr>
      <p:guideLst>
        <p:guide orient="horz" pos="1806"/>
        <p:guide pos="45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F3CCC-77DD-F84F-A249-CA3C5045A043}" type="datetime1">
              <a:rPr lang="it-IT" smtClean="0"/>
              <a:pPr/>
              <a:t>14/01/26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CFBF69-E6D8-384B-B1CC-31CC9EB4A4AC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91485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692227-D6DC-FD45-9507-DB2BAD58473C}" type="datetime1">
              <a:rPr lang="it-IT" smtClean="0"/>
              <a:pPr/>
              <a:t>14/01/26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986711-015B-0142-88C4-65D50E44FA77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209625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	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77013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D78D7-630B-6289-4AFC-D096D4AC8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ED605F3-E8C6-98BD-49F0-796A77FA1B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841B571-D87A-A636-ED1F-48E375EB16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FAF9EB0-ED00-B6A5-54DD-51B400E9D6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740598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F1E9A-E90A-AB46-A9F1-64780E0E6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13A02C0-2A1A-85E8-BBEA-06C0AB8D9C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C81A9C1-2542-32C1-19FF-924C2F02EE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0223E97-EE10-D3AA-CE57-93BE829AE9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65833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76293-6C4D-F31E-B962-2D16B5F0A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D08D998-2547-4CA6-3AAD-165828CD5F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42C21D3-E4D6-83F4-9EA3-7CB705EEC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5D0FEF0-70C7-049E-8D5E-185CC58280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91717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88E50-446C-6B19-A315-42743B467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CCF728E-74CD-757B-EB04-D8C03AC86D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DEE17E0-1EE5-807C-6C60-6335D0D91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57B0137-8552-68A0-16B4-6D1A67BAF9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68990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77FEE-7F85-E08E-FDFC-9A1DB0AF9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6B03596-EB6B-9AB9-0783-31E235590F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C23C38F-4229-3BDE-BC8A-D5AF737157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5F4B237-0B1B-244C-67AF-069F09675C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374096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845F9-54F7-9216-48DF-DB921AD6F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009276D-12F8-9C9C-01B6-38FC8EED2F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51BE1BC-65C4-E6FA-95C6-9170A1482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3C666E4-3C95-51E2-2C7D-7B5E2FFD17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91225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E2147-B78C-F781-192C-93F5B9743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EE164E1-6B1D-BEC0-0CC3-FD2ED30201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F965C3F-660B-FDE8-1BDE-F8BF785786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89EF071-89E5-38FB-43BD-4BEB545F71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3842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5E9A8-4D39-D125-21C2-B50A1E0AC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96A1BFF-62D4-D628-2F53-58EC88F7D3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7ED6032-A3A7-75C4-4797-A972916229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3603102-8DF7-FFE5-920F-1E6BF8D599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330357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749B2-BF6E-56CE-0C04-E1B0A4AFF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FF8A61D-F2AC-9072-0BF2-24C9E6BF9A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C8EEDB3-F25F-C977-DD7C-3DE4E6C27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46CB89A-D62F-32BE-FA31-470DC74A2B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42632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0E19D-C673-E2A2-2519-8822E84AE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98E6193-1D9C-65D4-0821-7AC9D60AE5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61963AF-1442-3868-9B69-B1B4D83F16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2C0B26B-4463-7920-12E9-281092003A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750348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704EC-C239-94A5-A5D8-E84F4E033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093392A-F819-998D-8DE0-EC39E13A6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4D4F93E-94CC-AEDD-7994-43DA9A35BA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9E7BFAB-FEE9-7A24-A5EA-BB5E1A34AC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353605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0DA2D-A72C-A8DA-C590-D4CCEA6F2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15B8C82-FFA6-2BB9-5634-3AA4805557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44AB59F-19C7-3566-FD7D-B37C3FBFF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26B3A27-03EB-B5B0-AB1D-880CE2CEAA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554925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F95EB-FF25-4E25-9F65-49C09D047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018330B-265D-BC15-5D1B-B4AF1AFD10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F49670A-3DCB-19F8-301C-4BDED57A77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A90B746-6286-2F19-98AA-39DD5B965A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2199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14/01/26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7240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14/01/26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55808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14/01/26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38374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14/01/26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3381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14/01/26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9635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14/01/26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36006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14/01/26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6321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14/01/26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4890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14/01/26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9643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14/01/26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58563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14/01/26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81774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8BF249-6BAC-CD40-AAE9-334F110649E5}" type="datetimeFigureOut">
              <a:rPr lang="it-IT" smtClean="0"/>
              <a:pPr/>
              <a:t>14/01/26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8520A-26EA-DE4B-B141-4532FC98FF0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37915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8930" y="6347762"/>
            <a:ext cx="2545261" cy="522390"/>
          </a:xfrm>
          <a:prstGeom prst="rect">
            <a:avLst/>
          </a:prstGeom>
        </p:spPr>
      </p:pic>
      <p:pic>
        <p:nvPicPr>
          <p:cNvPr id="4" name="Immagin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69"/>
            <a:ext cx="9144000" cy="6845300"/>
          </a:xfrm>
          <a:prstGeom prst="rect">
            <a:avLst/>
          </a:prstGeom>
        </p:spPr>
      </p:pic>
      <p:sp>
        <p:nvSpPr>
          <p:cNvPr id="8" name="CasellaDiTesto 7"/>
          <p:cNvSpPr txBox="1"/>
          <p:nvPr/>
        </p:nvSpPr>
        <p:spPr>
          <a:xfrm>
            <a:off x="4914900" y="2301489"/>
            <a:ext cx="3629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 err="1"/>
              <a:t>Parallel</a:t>
            </a:r>
            <a:r>
              <a:rPr lang="it-IT" dirty="0"/>
              <a:t> Computing</a:t>
            </a:r>
          </a:p>
        </p:txBody>
      </p:sp>
      <p:sp>
        <p:nvSpPr>
          <p:cNvPr id="11" name="CasellaDiTesto 10"/>
          <p:cNvSpPr txBox="1"/>
          <p:nvPr/>
        </p:nvSpPr>
        <p:spPr>
          <a:xfrm>
            <a:off x="5649173" y="4590468"/>
            <a:ext cx="28953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1600" b="1" dirty="0">
                <a:latin typeface=""/>
              </a:rPr>
              <a:t>Alessandro Bianco 7147240</a:t>
            </a:r>
          </a:p>
        </p:txBody>
      </p:sp>
      <p:sp>
        <p:nvSpPr>
          <p:cNvPr id="13" name="CasellaDiTesto 12"/>
          <p:cNvSpPr txBox="1"/>
          <p:nvPr/>
        </p:nvSpPr>
        <p:spPr>
          <a:xfrm>
            <a:off x="7008868" y="6474363"/>
            <a:ext cx="1418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"/>
              </a:rPr>
              <a:t>A.A. 2025/2026</a:t>
            </a:r>
          </a:p>
        </p:txBody>
      </p:sp>
      <p:sp>
        <p:nvSpPr>
          <p:cNvPr id="15" name="CasellaDiTesto 14"/>
          <p:cNvSpPr txBox="1"/>
          <p:nvPr/>
        </p:nvSpPr>
        <p:spPr>
          <a:xfrm>
            <a:off x="4132793" y="1855318"/>
            <a:ext cx="44117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3200" b="1" dirty="0" err="1">
                <a:solidFill>
                  <a:schemeClr val="accent1">
                    <a:lumMod val="75000"/>
                  </a:schemeClr>
                </a:solidFill>
                <a:latin typeface=""/>
              </a:rPr>
              <a:t>Ngrams</a:t>
            </a:r>
            <a:r>
              <a:rPr lang="it-IT" sz="3200" b="1" dirty="0">
                <a:solidFill>
                  <a:schemeClr val="accent1">
                    <a:lumMod val="75000"/>
                  </a:schemeClr>
                </a:solidFill>
                <a:latin typeface=""/>
              </a:rPr>
              <a:t> with Cuda</a:t>
            </a:r>
          </a:p>
        </p:txBody>
      </p:sp>
    </p:spTree>
    <p:extLst>
      <p:ext uri="{BB962C8B-B14F-4D97-AF65-F5344CB8AC3E}">
        <p14:creationId xmlns:p14="http://schemas.microsoft.com/office/powerpoint/2010/main" val="3311714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D4F15-C2FE-6CFE-806F-14FDD5BFE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306CFE09-9878-BE5B-473B-D18E76A72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490" y="0"/>
            <a:ext cx="9180512" cy="687263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6A979219-6AF7-98B7-F538-49FC5078E2CC}"/>
              </a:ext>
            </a:extLst>
          </p:cNvPr>
          <p:cNvSpPr txBox="1"/>
          <p:nvPr/>
        </p:nvSpPr>
        <p:spPr>
          <a:xfrm>
            <a:off x="648253" y="1305402"/>
            <a:ext cx="4663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Introduction</a:t>
            </a:r>
            <a:endParaRPr lang="it-IT" sz="24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E5B4619-B6E9-9900-FD64-76F385A27E81}"/>
              </a:ext>
            </a:extLst>
          </p:cNvPr>
          <p:cNvSpPr txBox="1"/>
          <p:nvPr/>
        </p:nvSpPr>
        <p:spPr>
          <a:xfrm>
            <a:off x="648253" y="17051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>
              <a:latin typeface="Arial"/>
              <a:cs typeface="Arial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48D5E18-0B99-B58B-A31B-A43DD65B9904}"/>
              </a:ext>
            </a:extLst>
          </p:cNvPr>
          <p:cNvSpPr txBox="1"/>
          <p:nvPr/>
        </p:nvSpPr>
        <p:spPr>
          <a:xfrm>
            <a:off x="648253" y="2650078"/>
            <a:ext cx="781902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/>
              <a:t>N-gram</a:t>
            </a:r>
            <a:r>
              <a:rPr lang="it-IT" sz="1600" dirty="0"/>
              <a:t> </a:t>
            </a:r>
            <a:r>
              <a:rPr lang="it-IT" sz="1600" dirty="0" err="1"/>
              <a:t>counting</a:t>
            </a:r>
            <a:r>
              <a:rPr lang="it-IT" sz="1600" dirty="0"/>
              <a:t> </a:t>
            </a:r>
            <a:r>
              <a:rPr lang="it-IT" sz="1600" dirty="0" err="1"/>
              <a:t>is</a:t>
            </a:r>
            <a:r>
              <a:rPr lang="it-IT" sz="1600" dirty="0"/>
              <a:t> a </a:t>
            </a:r>
            <a:r>
              <a:rPr lang="it-IT" sz="1600" dirty="0" err="1"/>
              <a:t>fundamental</a:t>
            </a:r>
            <a:r>
              <a:rPr lang="it-IT" sz="1600" dirty="0"/>
              <a:t> </a:t>
            </a:r>
            <a:r>
              <a:rPr lang="it-IT" sz="1600" dirty="0" err="1"/>
              <a:t>operation</a:t>
            </a:r>
            <a:r>
              <a:rPr lang="it-IT" sz="1600" dirty="0"/>
              <a:t> in NLP, </a:t>
            </a:r>
            <a:r>
              <a:rPr lang="it-IT" sz="1600" dirty="0" err="1"/>
              <a:t>essential</a:t>
            </a:r>
            <a:r>
              <a:rPr lang="it-IT" sz="1600" dirty="0"/>
              <a:t> for Language </a:t>
            </a:r>
            <a:r>
              <a:rPr lang="it-IT" sz="1600" dirty="0" err="1"/>
              <a:t>Modeling</a:t>
            </a:r>
            <a:r>
              <a:rPr lang="it-IT" sz="1600" dirty="0"/>
              <a:t>, Machine </a:t>
            </a:r>
            <a:r>
              <a:rPr lang="it-IT" sz="1600" dirty="0" err="1"/>
              <a:t>Translation</a:t>
            </a:r>
            <a:r>
              <a:rPr lang="it-IT" sz="1600" dirty="0"/>
              <a:t>, and Sentiment Analysis.</a:t>
            </a:r>
          </a:p>
          <a:p>
            <a:endParaRPr lang="it-IT" sz="1600" dirty="0"/>
          </a:p>
          <a:p>
            <a:r>
              <a:rPr lang="it-IT" sz="1600" b="1" dirty="0"/>
              <a:t>The </a:t>
            </a:r>
            <a:r>
              <a:rPr lang="it-IT" sz="1600" b="1" dirty="0" err="1"/>
              <a:t>problem</a:t>
            </a:r>
            <a:r>
              <a:rPr lang="it-IT" sz="1600" dirty="0"/>
              <a:t>: Processing </a:t>
            </a:r>
            <a:r>
              <a:rPr lang="it-IT" sz="1600" dirty="0" err="1"/>
              <a:t>billions</a:t>
            </a:r>
            <a:r>
              <a:rPr lang="it-IT" sz="1600" dirty="0"/>
              <a:t> of </a:t>
            </a:r>
            <a:r>
              <a:rPr lang="it-IT" sz="1600" dirty="0" err="1"/>
              <a:t>N-grams</a:t>
            </a:r>
            <a:r>
              <a:rPr lang="it-IT" sz="1600" dirty="0"/>
              <a:t> in </a:t>
            </a:r>
            <a:r>
              <a:rPr lang="it-IT" sz="1600" dirty="0" err="1"/>
              <a:t>modern</a:t>
            </a:r>
            <a:r>
              <a:rPr lang="it-IT" sz="1600" dirty="0"/>
              <a:t> text corpus </a:t>
            </a:r>
            <a:r>
              <a:rPr lang="it-IT" sz="1600" dirty="0" err="1"/>
              <a:t>creates</a:t>
            </a:r>
            <a:r>
              <a:rPr lang="it-IT" sz="1600" dirty="0"/>
              <a:t> a massive </a:t>
            </a:r>
            <a:r>
              <a:rPr lang="it-IT" sz="1600" dirty="0" err="1"/>
              <a:t>computational</a:t>
            </a:r>
            <a:r>
              <a:rPr lang="it-IT" sz="1600" dirty="0"/>
              <a:t> </a:t>
            </a:r>
            <a:r>
              <a:rPr lang="it-IT" sz="1600" dirty="0" err="1"/>
              <a:t>bottleneck</a:t>
            </a:r>
            <a:r>
              <a:rPr lang="it-IT" sz="1600" dirty="0"/>
              <a:t> for </a:t>
            </a:r>
            <a:r>
              <a:rPr lang="it-IT" sz="1600" dirty="0" err="1"/>
              <a:t>traditional</a:t>
            </a:r>
            <a:r>
              <a:rPr lang="it-IT" sz="1600" dirty="0"/>
              <a:t> </a:t>
            </a:r>
            <a:r>
              <a:rPr lang="it-IT" sz="1600" dirty="0" err="1"/>
              <a:t>CPUs</a:t>
            </a:r>
            <a:r>
              <a:rPr lang="it-IT" sz="1600" dirty="0"/>
              <a:t>.</a:t>
            </a:r>
          </a:p>
          <a:p>
            <a:endParaRPr lang="it-IT" sz="1600" dirty="0"/>
          </a:p>
          <a:p>
            <a:r>
              <a:rPr lang="it-IT" sz="1600" b="1" dirty="0"/>
              <a:t>The </a:t>
            </a:r>
            <a:r>
              <a:rPr lang="it-IT" sz="1600" b="1" dirty="0" err="1"/>
              <a:t>identified</a:t>
            </a:r>
            <a:r>
              <a:rPr lang="it-IT" sz="1600" b="1" dirty="0"/>
              <a:t> </a:t>
            </a:r>
            <a:r>
              <a:rPr lang="it-IT" sz="1600" b="1" dirty="0" err="1"/>
              <a:t>solution</a:t>
            </a:r>
            <a:r>
              <a:rPr lang="it-IT" sz="1600" dirty="0"/>
              <a:t>: </a:t>
            </a:r>
            <a:r>
              <a:rPr lang="it-IT" sz="1600" dirty="0" err="1"/>
              <a:t>Modern</a:t>
            </a:r>
            <a:r>
              <a:rPr lang="it-IT" sz="1600" dirty="0"/>
              <a:t> </a:t>
            </a:r>
            <a:r>
              <a:rPr lang="it-IT" sz="1600" dirty="0" err="1"/>
              <a:t>GPUs</a:t>
            </a:r>
            <a:r>
              <a:rPr lang="it-IT" sz="1600" dirty="0"/>
              <a:t> </a:t>
            </a:r>
            <a:r>
              <a:rPr lang="it-IT" sz="1600" dirty="0" err="1"/>
              <a:t>offer</a:t>
            </a:r>
            <a:r>
              <a:rPr lang="it-IT" sz="1600" dirty="0"/>
              <a:t> a </a:t>
            </a:r>
            <a:r>
              <a:rPr lang="it-IT" sz="1600" dirty="0" err="1"/>
              <a:t>massively</a:t>
            </a:r>
            <a:r>
              <a:rPr lang="it-IT" sz="1600" dirty="0"/>
              <a:t> </a:t>
            </a:r>
            <a:r>
              <a:rPr lang="it-IT" sz="1600" dirty="0" err="1"/>
              <a:t>parallel</a:t>
            </a:r>
            <a:r>
              <a:rPr lang="it-IT" sz="1600" dirty="0"/>
              <a:t> </a:t>
            </a:r>
            <a:r>
              <a:rPr lang="it-IT" sz="1600" dirty="0" err="1"/>
              <a:t>architecture</a:t>
            </a:r>
            <a:r>
              <a:rPr lang="it-IT" sz="1600" dirty="0"/>
              <a:t> </a:t>
            </a:r>
            <a:r>
              <a:rPr lang="it-IT" sz="1600" dirty="0" err="1"/>
              <a:t>ideal</a:t>
            </a:r>
            <a:r>
              <a:rPr lang="it-IT" sz="1600" dirty="0"/>
              <a:t> for </a:t>
            </a:r>
            <a:r>
              <a:rPr lang="it-IT" sz="1600" dirty="0" err="1"/>
              <a:t>this</a:t>
            </a:r>
            <a:r>
              <a:rPr lang="it-IT" sz="1600" dirty="0"/>
              <a:t> </a:t>
            </a:r>
            <a:r>
              <a:rPr lang="it-IT" sz="1600" dirty="0" err="1"/>
              <a:t>workload</a:t>
            </a:r>
            <a:r>
              <a:rPr lang="it-IT" sz="1600" dirty="0"/>
              <a:t>.</a:t>
            </a:r>
          </a:p>
          <a:p>
            <a:endParaRPr lang="it-IT" sz="1600" dirty="0"/>
          </a:p>
          <a:p>
            <a:r>
              <a:rPr lang="it-IT" sz="1600" b="1" dirty="0"/>
              <a:t>The challenge</a:t>
            </a:r>
            <a:r>
              <a:rPr lang="it-IT" sz="1600" dirty="0"/>
              <a:t>: </a:t>
            </a:r>
            <a:r>
              <a:rPr lang="it-IT" sz="1600" dirty="0" err="1"/>
              <a:t>Harnessing</a:t>
            </a:r>
            <a:r>
              <a:rPr lang="it-IT" sz="1600" dirty="0"/>
              <a:t> </a:t>
            </a:r>
            <a:r>
              <a:rPr lang="it-IT" sz="1600" dirty="0" err="1"/>
              <a:t>this</a:t>
            </a:r>
            <a:r>
              <a:rPr lang="it-IT" sz="1600" dirty="0"/>
              <a:t> </a:t>
            </a:r>
            <a:r>
              <a:rPr lang="it-IT" sz="1600" dirty="0" err="1"/>
              <a:t>parallelism</a:t>
            </a:r>
            <a:r>
              <a:rPr lang="it-IT" sz="1600" dirty="0"/>
              <a:t> </a:t>
            </a:r>
            <a:r>
              <a:rPr lang="it-IT" sz="1600" dirty="0" err="1"/>
              <a:t>is</a:t>
            </a:r>
            <a:r>
              <a:rPr lang="it-IT" sz="1600" dirty="0"/>
              <a:t> non-</a:t>
            </a:r>
            <a:r>
              <a:rPr lang="it-IT" sz="1600" dirty="0" err="1"/>
              <a:t>trivial</a:t>
            </a:r>
            <a:r>
              <a:rPr lang="it-IT" sz="1600" dirty="0"/>
              <a:t>. </a:t>
            </a:r>
            <a:r>
              <a:rPr lang="it-IT" sz="1600" dirty="0" err="1"/>
              <a:t>It</a:t>
            </a:r>
            <a:r>
              <a:rPr lang="it-IT" sz="1600" dirty="0"/>
              <a:t> </a:t>
            </a:r>
            <a:r>
              <a:rPr lang="it-IT" sz="1600" dirty="0" err="1"/>
              <a:t>introduces</a:t>
            </a:r>
            <a:r>
              <a:rPr lang="it-IT" sz="1600" dirty="0"/>
              <a:t> a </a:t>
            </a:r>
            <a:r>
              <a:rPr lang="it-IT" sz="1600" dirty="0" err="1"/>
              <a:t>critical</a:t>
            </a:r>
            <a:r>
              <a:rPr lang="it-IT" sz="1600" dirty="0"/>
              <a:t> trade-off </a:t>
            </a:r>
            <a:r>
              <a:rPr lang="it-IT" sz="1600" dirty="0" err="1"/>
              <a:t>between</a:t>
            </a:r>
            <a:r>
              <a:rPr lang="it-IT" sz="1600" dirty="0"/>
              <a:t> </a:t>
            </a:r>
            <a:r>
              <a:rPr lang="it-IT" sz="1600" i="1" dirty="0" err="1"/>
              <a:t>atomic</a:t>
            </a:r>
            <a:r>
              <a:rPr lang="it-IT" sz="1600" i="1" dirty="0"/>
              <a:t> </a:t>
            </a:r>
            <a:r>
              <a:rPr lang="it-IT" sz="1600" i="1" dirty="0" err="1"/>
              <a:t>memory</a:t>
            </a:r>
            <a:r>
              <a:rPr lang="it-IT" sz="1600" i="1" dirty="0"/>
              <a:t> </a:t>
            </a:r>
            <a:r>
              <a:rPr lang="it-IT" sz="1600" i="1" dirty="0" err="1"/>
              <a:t>contention</a:t>
            </a:r>
            <a:r>
              <a:rPr lang="it-IT" sz="1600" dirty="0"/>
              <a:t> and </a:t>
            </a:r>
            <a:r>
              <a:rPr lang="it-IT" sz="1600" i="1" dirty="0" err="1"/>
              <a:t>exponential</a:t>
            </a:r>
            <a:r>
              <a:rPr lang="it-IT" sz="1600" i="1" dirty="0"/>
              <a:t> </a:t>
            </a:r>
            <a:r>
              <a:rPr lang="it-IT" sz="1600" i="1" dirty="0" err="1"/>
              <a:t>memory</a:t>
            </a:r>
            <a:r>
              <a:rPr lang="it-IT" sz="1600" i="1" dirty="0"/>
              <a:t> </a:t>
            </a:r>
            <a:r>
              <a:rPr lang="it-IT" sz="1600" i="1" dirty="0" err="1"/>
              <a:t>complexity</a:t>
            </a:r>
            <a:r>
              <a:rPr lang="it-IT" sz="1600" dirty="0"/>
              <a:t>.</a:t>
            </a:r>
          </a:p>
          <a:p>
            <a:endParaRPr lang="it-IT" sz="1600" dirty="0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56E677FB-B56C-EC4D-432B-3A639A638B8B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B05174EF-FD1B-9501-46F1-61027C996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2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5003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E6F94-DA50-89EA-0517-1E0EEB8AD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365B5E0C-519D-5E3D-AA50-AD56E253ED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490" y="0"/>
            <a:ext cx="9180512" cy="687263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6FB76CD8-3BE6-E1B9-A375-16657583DA8C}"/>
              </a:ext>
            </a:extLst>
          </p:cNvPr>
          <p:cNvSpPr txBox="1"/>
          <p:nvPr/>
        </p:nvSpPr>
        <p:spPr>
          <a:xfrm>
            <a:off x="648253" y="1305402"/>
            <a:ext cx="4663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Proposed</a:t>
            </a:r>
            <a:r>
              <a:rPr lang="it-IT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lang="it-IT" sz="24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approach</a:t>
            </a:r>
            <a:endParaRPr lang="it-IT" sz="24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BCBB09C-3C9F-D06E-0ED0-3CB731B2CE66}"/>
              </a:ext>
            </a:extLst>
          </p:cNvPr>
          <p:cNvSpPr txBox="1"/>
          <p:nvPr/>
        </p:nvSpPr>
        <p:spPr>
          <a:xfrm>
            <a:off x="648253" y="17051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>
              <a:latin typeface="Arial"/>
              <a:cs typeface="Arial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503F101D-F436-5303-26EA-51E3291467E7}"/>
              </a:ext>
            </a:extLst>
          </p:cNvPr>
          <p:cNvSpPr txBox="1"/>
          <p:nvPr/>
        </p:nvSpPr>
        <p:spPr>
          <a:xfrm>
            <a:off x="648254" y="2650078"/>
            <a:ext cx="466305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In </a:t>
            </a:r>
            <a:r>
              <a:rPr lang="it-IT" sz="1600" dirty="0" err="1"/>
              <a:t>this</a:t>
            </a:r>
            <a:r>
              <a:rPr lang="it-IT" sz="1600" dirty="0"/>
              <a:t> report, </a:t>
            </a:r>
            <a:r>
              <a:rPr lang="it-IT" sz="1600" dirty="0" err="1"/>
              <a:t>we</a:t>
            </a:r>
            <a:r>
              <a:rPr lang="it-IT" sz="1600" dirty="0"/>
              <a:t> </a:t>
            </a:r>
            <a:r>
              <a:rPr lang="it-IT" sz="1600" dirty="0" err="1"/>
              <a:t>implement</a:t>
            </a:r>
            <a:r>
              <a:rPr lang="it-IT" sz="1600" dirty="0"/>
              <a:t> and </a:t>
            </a:r>
            <a:r>
              <a:rPr lang="it-IT" sz="1600" dirty="0" err="1"/>
              <a:t>analyze</a:t>
            </a:r>
            <a:r>
              <a:rPr lang="it-IT" sz="1600" dirty="0"/>
              <a:t> </a:t>
            </a:r>
            <a:r>
              <a:rPr lang="it-IT" sz="1600" dirty="0" err="1"/>
              <a:t>three</a:t>
            </a:r>
            <a:r>
              <a:rPr lang="it-IT" sz="1600" dirty="0"/>
              <a:t> GPU </a:t>
            </a:r>
            <a:r>
              <a:rPr lang="it-IT" sz="1600" dirty="0" err="1"/>
              <a:t>algorithms</a:t>
            </a:r>
            <a:r>
              <a:rPr lang="it-IT" sz="1600" dirty="0"/>
              <a:t> </a:t>
            </a:r>
            <a:r>
              <a:rPr lang="it-IT" sz="1600" dirty="0" err="1"/>
              <a:t>that</a:t>
            </a:r>
            <a:r>
              <a:rPr lang="it-IT" sz="1600" dirty="0"/>
              <a:t> </a:t>
            </a:r>
            <a:r>
              <a:rPr lang="it-IT" sz="1600" dirty="0" err="1"/>
              <a:t>embody</a:t>
            </a:r>
            <a:r>
              <a:rPr lang="it-IT" sz="1600" dirty="0"/>
              <a:t> </a:t>
            </a:r>
            <a:r>
              <a:rPr lang="it-IT" sz="1600" dirty="0" err="1"/>
              <a:t>this</a:t>
            </a:r>
            <a:r>
              <a:rPr lang="it-IT" sz="1600" dirty="0"/>
              <a:t> </a:t>
            </a:r>
            <a:r>
              <a:rPr lang="it-IT" sz="1600" dirty="0" err="1"/>
              <a:t>conflict</a:t>
            </a:r>
            <a:r>
              <a:rPr lang="it-IT" sz="1600" dirty="0"/>
              <a:t>:</a:t>
            </a:r>
          </a:p>
          <a:p>
            <a:r>
              <a:rPr lang="it-IT" sz="16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/>
              <a:t>V1</a:t>
            </a:r>
            <a:r>
              <a:rPr lang="it-IT" sz="1600" dirty="0"/>
              <a:t> (Global </a:t>
            </a:r>
            <a:r>
              <a:rPr lang="it-IT" sz="1600" dirty="0" err="1"/>
              <a:t>Atomic</a:t>
            </a:r>
            <a:r>
              <a:rPr lang="it-IT" sz="1600" dirty="0"/>
              <a:t> </a:t>
            </a:r>
            <a:r>
              <a:rPr lang="it-IT" sz="1600" dirty="0" err="1"/>
              <a:t>Histogram</a:t>
            </a:r>
            <a:r>
              <a:rPr lang="it-IT" sz="16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/>
              <a:t>V2</a:t>
            </a:r>
            <a:r>
              <a:rPr lang="it-IT" sz="1600" dirty="0"/>
              <a:t> (Private </a:t>
            </a:r>
            <a:r>
              <a:rPr lang="it-IT" sz="1600" dirty="0" err="1"/>
              <a:t>Histograms</a:t>
            </a:r>
            <a:r>
              <a:rPr lang="it-IT" sz="1600" dirty="0"/>
              <a:t>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/>
              <a:t>B</a:t>
            </a:r>
            <a:r>
              <a:rPr lang="it-IT" sz="1600" dirty="0"/>
              <a:t> (</a:t>
            </a:r>
            <a:r>
              <a:rPr lang="it-IT" sz="1600" dirty="0" err="1"/>
              <a:t>Map</a:t>
            </a:r>
            <a:r>
              <a:rPr lang="it-IT" sz="1600" dirty="0"/>
              <a:t>-Sort-Reduce). </a:t>
            </a:r>
          </a:p>
          <a:p>
            <a:endParaRPr lang="it-IT" sz="1600" dirty="0"/>
          </a:p>
          <a:p>
            <a:r>
              <a:rPr lang="it-IT" sz="1600" dirty="0"/>
              <a:t>The </a:t>
            </a:r>
            <a:r>
              <a:rPr lang="it-IT" sz="1600" dirty="0" err="1"/>
              <a:t>final</a:t>
            </a:r>
            <a:r>
              <a:rPr lang="it-IT" sz="1600" dirty="0"/>
              <a:t> </a:t>
            </a:r>
            <a:r>
              <a:rPr lang="it-IT" sz="1600" dirty="0" err="1"/>
              <a:t>objective</a:t>
            </a:r>
            <a:r>
              <a:rPr lang="it-IT" sz="1600" dirty="0"/>
              <a:t> </a:t>
            </a:r>
            <a:r>
              <a:rPr lang="it-IT" sz="1600" dirty="0" err="1"/>
              <a:t>is</a:t>
            </a:r>
            <a:r>
              <a:rPr lang="it-IT" sz="1600" dirty="0"/>
              <a:t> to </a:t>
            </a:r>
            <a:r>
              <a:rPr lang="it-IT" sz="1600" dirty="0" err="1"/>
              <a:t>demonstrate</a:t>
            </a:r>
            <a:r>
              <a:rPr lang="it-IT" sz="1600" dirty="0"/>
              <a:t> </a:t>
            </a:r>
            <a:r>
              <a:rPr lang="it-IT" sz="1600" dirty="0" err="1"/>
              <a:t>that</a:t>
            </a:r>
            <a:r>
              <a:rPr lang="it-IT" sz="1600" dirty="0"/>
              <a:t> </a:t>
            </a:r>
            <a:r>
              <a:rPr lang="it-IT" sz="1600" b="1" dirty="0"/>
              <a:t>no single </a:t>
            </a:r>
            <a:r>
              <a:rPr lang="it-IT" sz="1600" b="1" dirty="0" err="1"/>
              <a:t>solution</a:t>
            </a:r>
            <a:r>
              <a:rPr lang="it-IT" sz="1600" b="1" dirty="0"/>
              <a:t> </a:t>
            </a:r>
            <a:r>
              <a:rPr lang="it-IT" sz="1600" b="1" dirty="0" err="1"/>
              <a:t>prevails</a:t>
            </a:r>
            <a:r>
              <a:rPr lang="it-IT" sz="1600" dirty="0"/>
              <a:t>, </a:t>
            </a:r>
            <a:r>
              <a:rPr lang="it-IT" sz="1600" dirty="0" err="1"/>
              <a:t>but</a:t>
            </a:r>
            <a:r>
              <a:rPr lang="it-IT" sz="1600" dirty="0"/>
              <a:t> </a:t>
            </a:r>
            <a:r>
              <a:rPr lang="it-IT" sz="1600" dirty="0" err="1"/>
              <a:t>rather</a:t>
            </a:r>
            <a:r>
              <a:rPr lang="it-IT" sz="1600" dirty="0"/>
              <a:t> an </a:t>
            </a:r>
            <a:r>
              <a:rPr lang="it-IT" sz="1600" dirty="0" err="1"/>
              <a:t>optimal</a:t>
            </a:r>
            <a:r>
              <a:rPr lang="it-IT" sz="1600" dirty="0"/>
              <a:t> </a:t>
            </a:r>
            <a:r>
              <a:rPr lang="it-IT" sz="1600" dirty="0" err="1"/>
              <a:t>hybrid</a:t>
            </a:r>
            <a:r>
              <a:rPr lang="it-IT" sz="1600" dirty="0"/>
              <a:t> strategy </a:t>
            </a:r>
            <a:r>
              <a:rPr lang="it-IT" sz="1600" dirty="0" err="1"/>
              <a:t>that</a:t>
            </a:r>
            <a:r>
              <a:rPr lang="it-IT" sz="1600" dirty="0"/>
              <a:t> </a:t>
            </a:r>
            <a:r>
              <a:rPr lang="it-IT" sz="1600" dirty="0" err="1"/>
              <a:t>selects</a:t>
            </a:r>
            <a:r>
              <a:rPr lang="it-IT" sz="1600" dirty="0"/>
              <a:t> the </a:t>
            </a:r>
            <a:r>
              <a:rPr lang="it-IT" sz="1600" dirty="0" err="1"/>
              <a:t>most</a:t>
            </a:r>
            <a:r>
              <a:rPr lang="it-IT" sz="1600" dirty="0"/>
              <a:t> </a:t>
            </a:r>
            <a:r>
              <a:rPr lang="it-IT" sz="1600" dirty="0" err="1"/>
              <a:t>suitable</a:t>
            </a:r>
            <a:r>
              <a:rPr lang="it-IT" sz="1600" dirty="0"/>
              <a:t> </a:t>
            </a:r>
            <a:r>
              <a:rPr lang="it-IT" sz="1600" dirty="0" err="1"/>
              <a:t>algorithm</a:t>
            </a:r>
            <a:r>
              <a:rPr lang="it-IT" sz="1600" dirty="0"/>
              <a:t> for </a:t>
            </a:r>
            <a:r>
              <a:rPr lang="it-IT" sz="1600" dirty="0" err="1"/>
              <a:t>each</a:t>
            </a:r>
            <a:r>
              <a:rPr lang="it-IT" sz="1600" dirty="0"/>
              <a:t> </a:t>
            </a:r>
            <a:r>
              <a:rPr lang="it-IT" sz="1600" dirty="0" err="1"/>
              <a:t>specific</a:t>
            </a:r>
            <a:r>
              <a:rPr lang="it-IT" sz="1600" dirty="0"/>
              <a:t> scenario.</a:t>
            </a:r>
          </a:p>
          <a:p>
            <a:endParaRPr lang="it-IT" sz="1600" dirty="0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CB519169-708E-EB80-3DD1-0C7B877ECA53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A632A8E6-8C21-F3C3-CB67-5E7F2DF70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3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68BE755E-919B-C8AA-7112-C0620862FB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53998525"/>
                  </p:ext>
                </p:extLst>
              </p:nvPr>
            </p:nvGraphicFramePr>
            <p:xfrm>
              <a:off x="5311303" y="3304625"/>
              <a:ext cx="3697233" cy="1259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32411">
                      <a:extLst>
                        <a:ext uri="{9D8B030D-6E8A-4147-A177-3AD203B41FA5}">
                          <a16:colId xmlns:a16="http://schemas.microsoft.com/office/drawing/2014/main" val="323296887"/>
                        </a:ext>
                      </a:extLst>
                    </a:gridCol>
                    <a:gridCol w="1232411">
                      <a:extLst>
                        <a:ext uri="{9D8B030D-6E8A-4147-A177-3AD203B41FA5}">
                          <a16:colId xmlns:a16="http://schemas.microsoft.com/office/drawing/2014/main" val="2428717055"/>
                        </a:ext>
                      </a:extLst>
                    </a:gridCol>
                    <a:gridCol w="1232411">
                      <a:extLst>
                        <a:ext uri="{9D8B030D-6E8A-4147-A177-3AD203B41FA5}">
                          <a16:colId xmlns:a16="http://schemas.microsoft.com/office/drawing/2014/main" val="260648924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dirty="0" err="1"/>
                            <a:t>Metric</a:t>
                          </a:r>
                          <a:endParaRPr lang="it-IT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dirty="0" err="1"/>
                            <a:t>Histogram</a:t>
                          </a:r>
                          <a:r>
                            <a:rPr lang="it-IT" sz="1400" dirty="0"/>
                            <a:t>(V1/V2)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dirty="0" err="1"/>
                            <a:t>Map</a:t>
                          </a:r>
                          <a:r>
                            <a:rPr lang="it-IT" sz="1400" dirty="0"/>
                            <a:t>-Sort-Reduce (B)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4261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dirty="0"/>
                            <a:t>Memory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14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it-IT" sz="1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it-IT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it-IT" sz="14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p>
                                    <m:r>
                                      <a:rPr lang="it-IT" sz="1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  <m:r>
                                  <a:rPr lang="it-IT" sz="1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14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it-IT" sz="1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it-IT" sz="14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it-IT" sz="1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428021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dirty="0"/>
                            <a:t>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14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it-IT" sz="1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it-IT" sz="14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it-IT" sz="1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14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it-IT" sz="1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it-IT" sz="14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it-IT" sz="1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it-IT" sz="1400" b="0" i="1" smtClean="0">
                                    <a:latin typeface="Cambria Math" panose="02040503050406030204" pitchFamily="18" charset="0"/>
                                  </a:rPr>
                                  <m:t>𝑙𝑜𝑔</m:t>
                                </m:r>
                                <m:r>
                                  <a:rPr lang="it-IT" sz="1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it-IT" sz="14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it-IT" sz="1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410481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68BE755E-919B-C8AA-7112-C0620862FB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53998525"/>
                  </p:ext>
                </p:extLst>
              </p:nvPr>
            </p:nvGraphicFramePr>
            <p:xfrm>
              <a:off x="5311303" y="3304625"/>
              <a:ext cx="3697233" cy="1259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32411">
                      <a:extLst>
                        <a:ext uri="{9D8B030D-6E8A-4147-A177-3AD203B41FA5}">
                          <a16:colId xmlns:a16="http://schemas.microsoft.com/office/drawing/2014/main" val="323296887"/>
                        </a:ext>
                      </a:extLst>
                    </a:gridCol>
                    <a:gridCol w="1232411">
                      <a:extLst>
                        <a:ext uri="{9D8B030D-6E8A-4147-A177-3AD203B41FA5}">
                          <a16:colId xmlns:a16="http://schemas.microsoft.com/office/drawing/2014/main" val="2428717055"/>
                        </a:ext>
                      </a:extLst>
                    </a:gridCol>
                    <a:gridCol w="1232411">
                      <a:extLst>
                        <a:ext uri="{9D8B030D-6E8A-4147-A177-3AD203B41FA5}">
                          <a16:colId xmlns:a16="http://schemas.microsoft.com/office/drawing/2014/main" val="2606489243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dirty="0" err="1"/>
                            <a:t>Metric</a:t>
                          </a:r>
                          <a:endParaRPr lang="it-IT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dirty="0" err="1"/>
                            <a:t>Histogram</a:t>
                          </a:r>
                          <a:r>
                            <a:rPr lang="it-IT" sz="1400" dirty="0"/>
                            <a:t>(V1/V2)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dirty="0" err="1"/>
                            <a:t>Map</a:t>
                          </a:r>
                          <a:r>
                            <a:rPr lang="it-IT" sz="1400" dirty="0"/>
                            <a:t>-Sort-Reduce (B)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4261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dirty="0"/>
                            <a:t>Memory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140000" r="-10102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4"/>
                          <a:stretch>
                            <a:fillRect l="-202062" t="-140000" r="-2062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428021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dirty="0"/>
                            <a:t>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248276" r="-101020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4"/>
                          <a:stretch>
                            <a:fillRect l="-202062" t="-248276" r="-2062" b="-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4104814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84235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CD31F-D8B4-EBD4-45D7-45756DD52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95D9B7CC-47B7-1900-33AC-9B4A800C1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490" y="0"/>
            <a:ext cx="9180512" cy="687263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CC0EC5CE-0BAA-77D4-CC1D-0D5A6A6EAA8B}"/>
              </a:ext>
            </a:extLst>
          </p:cNvPr>
          <p:cNvSpPr txBox="1"/>
          <p:nvPr/>
        </p:nvSpPr>
        <p:spPr>
          <a:xfrm>
            <a:off x="648253" y="1305402"/>
            <a:ext cx="57539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Core </a:t>
            </a:r>
            <a:r>
              <a:rPr lang="it-IT" sz="24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methodology</a:t>
            </a:r>
            <a:r>
              <a:rPr lang="it-IT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: </a:t>
            </a:r>
            <a:r>
              <a:rPr lang="it-IT" sz="24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Flat</a:t>
            </a:r>
            <a:r>
              <a:rPr lang="it-IT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lang="it-IT" sz="24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indexing</a:t>
            </a:r>
            <a:endParaRPr lang="it-IT" sz="24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BAF0CA2B-0B42-E0F1-68AC-DFD8FAC8D257}"/>
              </a:ext>
            </a:extLst>
          </p:cNvPr>
          <p:cNvSpPr txBox="1"/>
          <p:nvPr/>
        </p:nvSpPr>
        <p:spPr>
          <a:xfrm>
            <a:off x="648253" y="17051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D3DFF17B-DE04-4B9C-BA75-044BA3379048}"/>
                  </a:ext>
                </a:extLst>
              </p:cNvPr>
              <p:cNvSpPr txBox="1"/>
              <p:nvPr/>
            </p:nvSpPr>
            <p:spPr>
              <a:xfrm>
                <a:off x="648253" y="2650078"/>
                <a:ext cx="7819027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600" dirty="0" err="1"/>
                  <a:t>All</a:t>
                </a:r>
                <a:r>
                  <a:rPr lang="it-IT" sz="1600" dirty="0"/>
                  <a:t> </a:t>
                </a:r>
                <a:r>
                  <a:rPr lang="it-IT" sz="1600" dirty="0" err="1"/>
                  <a:t>algorithms</a:t>
                </a:r>
                <a:r>
                  <a:rPr lang="it-IT" sz="1600" dirty="0"/>
                  <a:t> </a:t>
                </a:r>
                <a:r>
                  <a:rPr lang="it-IT" sz="1600" dirty="0" err="1"/>
                  <a:t>map</a:t>
                </a:r>
                <a:r>
                  <a:rPr lang="it-IT" sz="1600" dirty="0"/>
                  <a:t> </a:t>
                </a:r>
                <a:r>
                  <a:rPr lang="it-IT" sz="1600" dirty="0" err="1"/>
                  <a:t>each</a:t>
                </a:r>
                <a:r>
                  <a:rPr lang="it-IT" sz="1600" dirty="0"/>
                  <a:t> </a:t>
                </a:r>
                <a:r>
                  <a:rPr lang="it-IT" sz="1600" dirty="0" err="1"/>
                  <a:t>N-gram</a:t>
                </a:r>
                <a:r>
                  <a:rPr lang="it-IT" sz="1600" dirty="0"/>
                  <a:t> to a </a:t>
                </a:r>
                <a:r>
                  <a:rPr lang="it-IT" sz="1600" dirty="0" err="1"/>
                  <a:t>unique</a:t>
                </a:r>
                <a:r>
                  <a:rPr lang="it-IT" sz="1600" dirty="0"/>
                  <a:t> </a:t>
                </a:r>
                <a:r>
                  <a:rPr lang="it-IT" sz="1600" dirty="0" err="1"/>
                  <a:t>integer</a:t>
                </a:r>
                <a:r>
                  <a:rPr lang="it-IT" sz="1600" dirty="0"/>
                  <a:t> index, so </a:t>
                </a:r>
                <a:r>
                  <a:rPr lang="it-IT" sz="1600" dirty="0" err="1"/>
                  <a:t>this</a:t>
                </a:r>
                <a:r>
                  <a:rPr lang="it-IT" sz="1600" dirty="0"/>
                  <a:t> </a:t>
                </a:r>
                <a:r>
                  <a:rPr lang="it-IT" sz="1600" dirty="0" err="1"/>
                  <a:t>implies</a:t>
                </a:r>
                <a:r>
                  <a:rPr lang="it-IT" sz="1600" dirty="0"/>
                  <a:t> </a:t>
                </a:r>
                <a:r>
                  <a:rPr lang="it-IT" sz="1600" dirty="0" err="1"/>
                  <a:t>that</a:t>
                </a:r>
                <a:r>
                  <a:rPr lang="it-IT" sz="1600" dirty="0"/>
                  <a:t> </a:t>
                </a:r>
                <a:r>
                  <a:rPr lang="it-IT" sz="1600" dirty="0" err="1"/>
                  <a:t>each</a:t>
                </a:r>
                <a:r>
                  <a:rPr lang="it-IT" sz="1600" dirty="0"/>
                  <a:t> </a:t>
                </a:r>
                <a:r>
                  <a:rPr lang="it-IT" sz="1600" dirty="0" err="1"/>
                  <a:t>thread</a:t>
                </a:r>
                <a:r>
                  <a:rPr lang="it-IT" sz="1600" dirty="0"/>
                  <a:t> </a:t>
                </a:r>
                <a:r>
                  <a:rPr lang="it-IT" sz="1600" dirty="0" err="1"/>
                  <a:t>uses</a:t>
                </a:r>
                <a:r>
                  <a:rPr lang="it-IT" sz="1600" dirty="0"/>
                  <a:t> a sliding window </a:t>
                </a:r>
                <a:r>
                  <a:rPr lang="it-IT" sz="1600" dirty="0" err="1"/>
                  <a:t>approach</a:t>
                </a:r>
                <a:r>
                  <a:rPr lang="it-IT" sz="1600" dirty="0"/>
                  <a:t>: 1 </a:t>
                </a:r>
                <a:r>
                  <a:rPr lang="it-IT" sz="1600" dirty="0" err="1"/>
                  <a:t>thread</a:t>
                </a:r>
                <a:r>
                  <a:rPr lang="it-IT" sz="1600" dirty="0"/>
                  <a:t> = 1 </a:t>
                </a:r>
                <a:r>
                  <a:rPr lang="it-IT" sz="1600" dirty="0" err="1"/>
                  <a:t>N-gram</a:t>
                </a:r>
                <a:r>
                  <a:rPr lang="it-IT" sz="1600" dirty="0"/>
                  <a:t>.</a:t>
                </a:r>
              </a:p>
              <a:p>
                <a:endParaRPr lang="it-IT" sz="1600" dirty="0"/>
              </a:p>
              <a:p>
                <a:r>
                  <a:rPr lang="it-IT" sz="1600" dirty="0"/>
                  <a:t>The text </a:t>
                </a:r>
                <a:r>
                  <a:rPr lang="it-IT" sz="1600" dirty="0" err="1"/>
                  <a:t>is</a:t>
                </a:r>
                <a:r>
                  <a:rPr lang="it-IT" sz="1600" dirty="0"/>
                  <a:t> </a:t>
                </a:r>
                <a:r>
                  <a:rPr lang="it-IT" sz="1600" dirty="0" err="1"/>
                  <a:t>treated</a:t>
                </a:r>
                <a:r>
                  <a:rPr lang="it-IT" sz="1600" dirty="0"/>
                  <a:t> </a:t>
                </a:r>
                <a:r>
                  <a:rPr lang="it-IT" sz="1600" dirty="0" err="1"/>
                  <a:t>as</a:t>
                </a:r>
                <a:r>
                  <a:rPr lang="it-IT" sz="1600" dirty="0"/>
                  <a:t> an array of bytes and so </a:t>
                </a:r>
                <a:r>
                  <a:rPr lang="it-IT" sz="1600" dirty="0" err="1"/>
                  <a:t>we</a:t>
                </a:r>
                <a:r>
                  <a:rPr lang="it-IT" sz="1600" dirty="0"/>
                  <a:t> </a:t>
                </a:r>
                <a:r>
                  <a:rPr lang="it-IT" sz="1600" dirty="0" err="1"/>
                  <a:t>interpret</a:t>
                </a:r>
                <a:r>
                  <a:rPr lang="it-IT" sz="1600" dirty="0"/>
                  <a:t> the </a:t>
                </a:r>
                <a:r>
                  <a:rPr lang="it-IT" sz="1600" dirty="0" err="1"/>
                  <a:t>N-gram</a:t>
                </a:r>
                <a:r>
                  <a:rPr lang="it-IT" sz="1600" dirty="0"/>
                  <a:t> </a:t>
                </a:r>
                <a:r>
                  <a:rPr lang="it-IT" sz="1600" dirty="0" err="1"/>
                  <a:t>as</a:t>
                </a:r>
                <a:r>
                  <a:rPr lang="it-IT" sz="1600" dirty="0"/>
                  <a:t> a </a:t>
                </a:r>
                <a:r>
                  <a:rPr lang="it-IT" sz="1600" dirty="0" err="1"/>
                  <a:t>number</a:t>
                </a:r>
                <a:r>
                  <a:rPr lang="it-IT" sz="1600" dirty="0"/>
                  <a:t> in base 256:</a:t>
                </a:r>
              </a:p>
              <a:p>
                <a:endParaRPr lang="it-IT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600" b="1" dirty="0"/>
                  <a:t>MSB</a:t>
                </a:r>
                <a:r>
                  <a:rPr lang="it-IT" sz="1600" dirty="0"/>
                  <a:t>: the </a:t>
                </a:r>
                <a:r>
                  <a:rPr lang="it-IT" sz="1600" dirty="0" err="1"/>
                  <a:t>leftmost</a:t>
                </a:r>
                <a:r>
                  <a:rPr lang="it-IT" sz="1600" dirty="0"/>
                  <a:t> </a:t>
                </a:r>
                <a:r>
                  <a:rPr lang="it-IT" sz="1600" dirty="0" err="1"/>
                  <a:t>character</a:t>
                </a:r>
                <a:r>
                  <a:rPr lang="it-IT" sz="1600" dirty="0"/>
                  <a:t> </a:t>
                </a:r>
                <a:r>
                  <a:rPr lang="it-IT" sz="1600" dirty="0" err="1"/>
                  <a:t>multiplied</a:t>
                </a:r>
                <a:r>
                  <a:rPr lang="it-IT" sz="1600" dirty="0"/>
                  <a:t>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256</m:t>
                        </m:r>
                      </m:e>
                      <m:sup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it-IT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600" b="1" dirty="0"/>
                  <a:t>LSB</a:t>
                </a:r>
                <a:r>
                  <a:rPr lang="it-IT" sz="1600" dirty="0"/>
                  <a:t>: the </a:t>
                </a:r>
                <a:r>
                  <a:rPr lang="it-IT" sz="1600" dirty="0" err="1"/>
                  <a:t>rightmost</a:t>
                </a:r>
                <a:r>
                  <a:rPr lang="it-IT" sz="1600" dirty="0"/>
                  <a:t> </a:t>
                </a:r>
                <a:r>
                  <a:rPr lang="it-IT" sz="1600" dirty="0" err="1"/>
                  <a:t>character</a:t>
                </a:r>
                <a:r>
                  <a:rPr lang="it-IT" sz="1600" dirty="0"/>
                  <a:t> multiplied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256</m:t>
                        </m:r>
                      </m:e>
                      <m:sup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it-IT" sz="1600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D3DFF17B-DE04-4B9C-BA75-044BA3379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253" y="2650078"/>
                <a:ext cx="7819027" cy="2123658"/>
              </a:xfrm>
              <a:prstGeom prst="rect">
                <a:avLst/>
              </a:prstGeom>
              <a:blipFill>
                <a:blip r:embed="rId4"/>
                <a:stretch>
                  <a:fillRect l="-324" t="-59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ttangolo 11">
            <a:extLst>
              <a:ext uri="{FF2B5EF4-FFF2-40B4-BE49-F238E27FC236}">
                <a16:creationId xmlns:a16="http://schemas.microsoft.com/office/drawing/2014/main" id="{12A2E89C-7185-4C51-B255-CB7B908952C7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0A3A4F85-6617-4C2D-AF91-CB30CB81C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4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AC641D27-CF07-4645-D06D-58CBA9A57A49}"/>
                  </a:ext>
                </a:extLst>
              </p:cNvPr>
              <p:cNvSpPr txBox="1"/>
              <p:nvPr/>
            </p:nvSpPr>
            <p:spPr>
              <a:xfrm>
                <a:off x="740618" y="4914250"/>
                <a:ext cx="7819027" cy="12766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it-IT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600" b="0" i="1" smtClean="0">
                          <a:latin typeface="Cambria Math" panose="02040503050406030204" pitchFamily="18" charset="0"/>
                        </a:rPr>
                        <m:t>𝑖𝑑𝑥</m:t>
                      </m:r>
                      <m:r>
                        <a:rPr lang="it-IT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it-IT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𝑐h𝑎𝑟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it-IT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1600" b="0" i="1" smtClean="0">
                                  <a:latin typeface="Cambria Math" panose="02040503050406030204" pitchFamily="18" charset="0"/>
                                </a:rPr>
                                <m:t>𝑖𝑑𝑥</m:t>
                              </m:r>
                              <m:r>
                                <a:rPr lang="it-IT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it-IT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 × </m:t>
                          </m:r>
                          <m:sSup>
                            <m:sSupPr>
                              <m:ctrlPr>
                                <a:rPr lang="it-IT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IT" sz="1600" b="0" i="1" smtClean="0">
                                  <a:latin typeface="Cambria Math" panose="02040503050406030204" pitchFamily="18" charset="0"/>
                                </a:rPr>
                                <m:t>256</m:t>
                              </m:r>
                            </m:e>
                            <m:sup>
                              <m:r>
                                <a:rPr lang="it-IT" sz="1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it-IT" sz="1600" b="0" i="1" smtClean="0">
                                  <a:latin typeface="Cambria Math" panose="02040503050406030204" pitchFamily="18" charset="0"/>
                                </a:rPr>
                                <m:t>−1−</m:t>
                              </m:r>
                              <m:r>
                                <a:rPr lang="it-IT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it-IT" sz="1600" b="0" dirty="0"/>
              </a:p>
              <a:p>
                <a:endParaRPr lang="it-IT" sz="1600" dirty="0"/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AC641D27-CF07-4645-D06D-58CBA9A57A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618" y="4914250"/>
                <a:ext cx="7819027" cy="1276696"/>
              </a:xfrm>
              <a:prstGeom prst="rect">
                <a:avLst/>
              </a:prstGeom>
              <a:blipFill>
                <a:blip r:embed="rId5"/>
                <a:stretch>
                  <a:fillRect t="-39216" b="-7451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1407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286C7-DA1D-BDCC-B6A9-DD63B513A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E693672D-1AA9-2903-5017-E7CDE9541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490" y="0"/>
            <a:ext cx="9180512" cy="687263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EE3060F1-7D0F-AC16-4104-C63A50B98098}"/>
              </a:ext>
            </a:extLst>
          </p:cNvPr>
          <p:cNvSpPr txBox="1"/>
          <p:nvPr/>
        </p:nvSpPr>
        <p:spPr>
          <a:xfrm>
            <a:off x="648253" y="1305402"/>
            <a:ext cx="57539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Core </a:t>
            </a:r>
            <a:r>
              <a:rPr lang="it-IT" sz="24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methodology</a:t>
            </a:r>
            <a:r>
              <a:rPr lang="it-IT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: </a:t>
            </a:r>
            <a:r>
              <a:rPr lang="it-IT" sz="24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Flat</a:t>
            </a:r>
            <a:r>
              <a:rPr lang="it-IT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lang="it-IT" sz="24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indexing</a:t>
            </a:r>
            <a:endParaRPr lang="it-IT" sz="24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3318ADD-7727-DB39-B216-8F945B20DDA5}"/>
              </a:ext>
            </a:extLst>
          </p:cNvPr>
          <p:cNvSpPr txBox="1"/>
          <p:nvPr/>
        </p:nvSpPr>
        <p:spPr>
          <a:xfrm>
            <a:off x="648253" y="17051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>
              <a:latin typeface="Arial"/>
              <a:cs typeface="Arial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9C30F7C3-9AED-90B0-E609-FB1B637D2304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5AB12D8A-260D-38C0-919C-98226FEC0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5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87AC10EB-2F50-F417-A4B6-6DA01F543D56}"/>
              </a:ext>
            </a:extLst>
          </p:cNvPr>
          <p:cNvSpPr txBox="1"/>
          <p:nvPr/>
        </p:nvSpPr>
        <p:spPr>
          <a:xfrm>
            <a:off x="648253" y="2650078"/>
            <a:ext cx="78190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So in the V1/V2 </a:t>
            </a:r>
            <a:r>
              <a:rPr lang="it-IT" sz="1600" dirty="0" err="1"/>
              <a:t>histogram</a:t>
            </a:r>
            <a:r>
              <a:rPr lang="it-IT" sz="1600" dirty="0"/>
              <a:t> </a:t>
            </a:r>
            <a:r>
              <a:rPr lang="it-IT" sz="1600" dirty="0" err="1"/>
              <a:t>algorithms</a:t>
            </a:r>
            <a:r>
              <a:rPr lang="it-IT" sz="1600" dirty="0"/>
              <a:t> the index </a:t>
            </a:r>
            <a:r>
              <a:rPr lang="it-IT" sz="1600" dirty="0" err="1"/>
              <a:t>represents</a:t>
            </a:r>
            <a:r>
              <a:rPr lang="it-IT" sz="1600" dirty="0"/>
              <a:t> the </a:t>
            </a:r>
            <a:r>
              <a:rPr lang="it-IT" sz="1600" dirty="0" err="1"/>
              <a:t>memory</a:t>
            </a:r>
            <a:r>
              <a:rPr lang="it-IT" sz="1600" dirty="0"/>
              <a:t> </a:t>
            </a:r>
            <a:r>
              <a:rPr lang="it-IT" sz="1600" dirty="0" err="1"/>
              <a:t>address</a:t>
            </a:r>
            <a:r>
              <a:rPr lang="it-IT" sz="1600" dirty="0"/>
              <a:t> to </a:t>
            </a:r>
            <a:r>
              <a:rPr lang="it-IT" sz="1600" dirty="0" err="1"/>
              <a:t>atomically</a:t>
            </a:r>
            <a:r>
              <a:rPr lang="it-IT" sz="1600" dirty="0"/>
              <a:t> </a:t>
            </a:r>
            <a:r>
              <a:rPr lang="it-IT" sz="1600" dirty="0" err="1"/>
              <a:t>increment</a:t>
            </a:r>
            <a:r>
              <a:rPr lang="it-IT" sz="1600" dirty="0"/>
              <a:t>, </a:t>
            </a:r>
            <a:r>
              <a:rPr lang="it-IT" sz="1600" dirty="0" err="1"/>
              <a:t>while</a:t>
            </a:r>
            <a:r>
              <a:rPr lang="it-IT" sz="1600" dirty="0"/>
              <a:t> in the B </a:t>
            </a:r>
            <a:r>
              <a:rPr lang="it-IT" sz="1600" dirty="0" err="1"/>
              <a:t>algorithm</a:t>
            </a:r>
            <a:r>
              <a:rPr lang="it-IT" sz="1600" dirty="0"/>
              <a:t> (</a:t>
            </a:r>
            <a:r>
              <a:rPr lang="it-IT" sz="1600" dirty="0" err="1"/>
              <a:t>Map</a:t>
            </a:r>
            <a:r>
              <a:rPr lang="it-IT" sz="1600" dirty="0"/>
              <a:t>-Sort-Reduce) </a:t>
            </a:r>
            <a:r>
              <a:rPr lang="it-IT" sz="1600" dirty="0" err="1"/>
              <a:t>it</a:t>
            </a:r>
            <a:r>
              <a:rPr lang="it-IT" sz="1600" dirty="0"/>
              <a:t> </a:t>
            </a:r>
            <a:r>
              <a:rPr lang="it-IT" sz="1600" dirty="0" err="1"/>
              <a:t>represents</a:t>
            </a:r>
            <a:r>
              <a:rPr lang="it-IT" sz="1600" dirty="0"/>
              <a:t> the </a:t>
            </a:r>
            <a:r>
              <a:rPr lang="it-IT" sz="1600" dirty="0" err="1"/>
              <a:t>numeric</a:t>
            </a:r>
            <a:r>
              <a:rPr lang="it-IT" sz="1600" dirty="0"/>
              <a:t> ID </a:t>
            </a:r>
            <a:r>
              <a:rPr lang="it-IT" sz="1600" dirty="0" err="1"/>
              <a:t>that</a:t>
            </a:r>
            <a:r>
              <a:rPr lang="it-IT" sz="1600" dirty="0"/>
              <a:t> </a:t>
            </a:r>
            <a:r>
              <a:rPr lang="it-IT" sz="1600" dirty="0" err="1"/>
              <a:t>is</a:t>
            </a:r>
            <a:r>
              <a:rPr lang="it-IT" sz="1600" dirty="0"/>
              <a:t> </a:t>
            </a:r>
            <a:r>
              <a:rPr lang="it-IT" sz="1600" dirty="0" err="1"/>
              <a:t>being</a:t>
            </a:r>
            <a:r>
              <a:rPr lang="it-IT" sz="1600" dirty="0"/>
              <a:t> </a:t>
            </a:r>
            <a:r>
              <a:rPr lang="it-IT" sz="1600" dirty="0" err="1"/>
              <a:t>written</a:t>
            </a:r>
            <a:r>
              <a:rPr lang="it-IT" sz="1600" dirty="0"/>
              <a:t> inside the array.</a:t>
            </a:r>
          </a:p>
        </p:txBody>
      </p:sp>
      <p:grpSp>
        <p:nvGrpSpPr>
          <p:cNvPr id="6" name="Gruppo 5">
            <a:extLst>
              <a:ext uri="{FF2B5EF4-FFF2-40B4-BE49-F238E27FC236}">
                <a16:creationId xmlns:a16="http://schemas.microsoft.com/office/drawing/2014/main" id="{DD29D5A2-0A29-9D31-9885-BBFBBD1A0A9E}"/>
              </a:ext>
            </a:extLst>
          </p:cNvPr>
          <p:cNvGrpSpPr/>
          <p:nvPr/>
        </p:nvGrpSpPr>
        <p:grpSpPr>
          <a:xfrm>
            <a:off x="2113721" y="3692723"/>
            <a:ext cx="4888089" cy="2663627"/>
            <a:chOff x="2113721" y="3692723"/>
            <a:chExt cx="4888089" cy="2663627"/>
          </a:xfrm>
        </p:grpSpPr>
        <p:pic>
          <p:nvPicPr>
            <p:cNvPr id="4" name="Immagine 3">
              <a:extLst>
                <a:ext uri="{FF2B5EF4-FFF2-40B4-BE49-F238E27FC236}">
                  <a16:creationId xmlns:a16="http://schemas.microsoft.com/office/drawing/2014/main" id="{43908C58-5C2C-059C-07E4-B84712E1E6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13721" y="3692723"/>
              <a:ext cx="4888089" cy="2663627"/>
            </a:xfrm>
            <a:prstGeom prst="rect">
              <a:avLst/>
            </a:prstGeom>
          </p:spPr>
        </p:pic>
        <p:sp>
          <p:nvSpPr>
            <p:cNvPr id="5" name="Rettangolo 4">
              <a:extLst>
                <a:ext uri="{FF2B5EF4-FFF2-40B4-BE49-F238E27FC236}">
                  <a16:creationId xmlns:a16="http://schemas.microsoft.com/office/drawing/2014/main" id="{57DA6C65-9245-62FE-8AD3-19CFDE8A244A}"/>
                </a:ext>
              </a:extLst>
            </p:cNvPr>
            <p:cNvSpPr/>
            <p:nvPr/>
          </p:nvSpPr>
          <p:spPr>
            <a:xfrm>
              <a:off x="6683022" y="5994400"/>
              <a:ext cx="214489" cy="282222"/>
            </a:xfrm>
            <a:prstGeom prst="rect">
              <a:avLst/>
            </a:prstGeom>
            <a:solidFill>
              <a:srgbClr val="F1F1F1"/>
            </a:solidFill>
            <a:ln>
              <a:noFill/>
            </a:ln>
            <a:effectLst>
              <a:outerShdw blurRad="40000" dist="23000" dir="5400000" rotWithShape="0">
                <a:srgbClr val="F1F1F1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rgbClr val="F1F1F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31839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A1AD3-FC25-6F9E-C374-4F2F610AA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791752DE-B2E2-9475-548C-D99DA6A37A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490" y="0"/>
            <a:ext cx="9180512" cy="687263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EF60BA4E-ADD9-2BF0-3F42-0993AE7B868B}"/>
              </a:ext>
            </a:extLst>
          </p:cNvPr>
          <p:cNvSpPr txBox="1"/>
          <p:nvPr/>
        </p:nvSpPr>
        <p:spPr>
          <a:xfrm>
            <a:off x="648253" y="1305402"/>
            <a:ext cx="57539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Sequential</a:t>
            </a:r>
            <a:r>
              <a:rPr lang="it-IT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Baseline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20DE1A5-17DA-095C-D015-57B371FD3C1B}"/>
              </a:ext>
            </a:extLst>
          </p:cNvPr>
          <p:cNvSpPr txBox="1"/>
          <p:nvPr/>
        </p:nvSpPr>
        <p:spPr>
          <a:xfrm>
            <a:off x="648253" y="17051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>
              <a:latin typeface="Arial"/>
              <a:cs typeface="Arial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D913F1A8-A3C0-09FE-E117-806AA61122F6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DAECA2D7-CB91-0339-5E2D-FCF848344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6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E2CE73F-C287-4B75-BEA5-53C58ABC6365}"/>
              </a:ext>
            </a:extLst>
          </p:cNvPr>
          <p:cNvSpPr txBox="1"/>
          <p:nvPr/>
        </p:nvSpPr>
        <p:spPr>
          <a:xfrm>
            <a:off x="648253" y="2291993"/>
            <a:ext cx="788751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The standard workflow for </a:t>
            </a:r>
            <a:r>
              <a:rPr lang="it-IT" sz="1600" dirty="0" err="1"/>
              <a:t>counting</a:t>
            </a:r>
            <a:r>
              <a:rPr lang="it-IT" sz="1600" dirty="0"/>
              <a:t> the </a:t>
            </a:r>
            <a:r>
              <a:rPr lang="it-IT" sz="1600" dirty="0" err="1"/>
              <a:t>n-grams</a:t>
            </a:r>
            <a:r>
              <a:rPr lang="it-IT" sz="1600" dirty="0"/>
              <a:t> </a:t>
            </a:r>
            <a:r>
              <a:rPr lang="it-IT" sz="1600" dirty="0" err="1"/>
              <a:t>is</a:t>
            </a:r>
            <a:r>
              <a:rPr lang="it-IT" sz="1600" dirty="0"/>
              <a:t> the following:</a:t>
            </a:r>
          </a:p>
          <a:p>
            <a:endParaRPr lang="it-IT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Iterate </a:t>
            </a:r>
            <a:r>
              <a:rPr lang="it-IT" sz="1600" dirty="0" err="1"/>
              <a:t>linearly</a:t>
            </a:r>
            <a:r>
              <a:rPr lang="it-IT" sz="1600" dirty="0"/>
              <a:t> </a:t>
            </a:r>
            <a:r>
              <a:rPr lang="it-IT" sz="1600" dirty="0" err="1"/>
              <a:t>through</a:t>
            </a:r>
            <a:r>
              <a:rPr lang="it-IT" sz="1600" dirty="0"/>
              <a:t> the corpus byte array</a:t>
            </a:r>
          </a:p>
          <a:p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Extract</a:t>
            </a:r>
            <a:r>
              <a:rPr lang="it-IT" sz="1600" dirty="0"/>
              <a:t> the </a:t>
            </a:r>
            <a:r>
              <a:rPr lang="it-IT" sz="1600" dirty="0" err="1"/>
              <a:t>N-gram</a:t>
            </a:r>
            <a:r>
              <a:rPr lang="it-IT" sz="1600" dirty="0"/>
              <a:t> </a:t>
            </a:r>
            <a:r>
              <a:rPr lang="it-IT" sz="1600" dirty="0" err="1"/>
              <a:t>at</a:t>
            </a:r>
            <a:r>
              <a:rPr lang="it-IT" sz="1600" dirty="0"/>
              <a:t> </a:t>
            </a:r>
            <a:r>
              <a:rPr lang="it-IT" sz="1600" dirty="0" err="1"/>
              <a:t>each</a:t>
            </a:r>
            <a:r>
              <a:rPr lang="it-IT" sz="1600" dirty="0"/>
              <a:t> position </a:t>
            </a:r>
            <a:r>
              <a:rPr lang="it-IT" sz="1600" dirty="0" err="1"/>
              <a:t>using</a:t>
            </a:r>
            <a:r>
              <a:rPr lang="it-IT" sz="1600" dirty="0"/>
              <a:t> a sliding window</a:t>
            </a:r>
          </a:p>
          <a:p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Decode</a:t>
            </a:r>
            <a:r>
              <a:rPr lang="it-IT" sz="1600" dirty="0"/>
              <a:t> bytes to </a:t>
            </a:r>
            <a:r>
              <a:rPr lang="it-IT" sz="1600" dirty="0" err="1"/>
              <a:t>string</a:t>
            </a:r>
            <a:r>
              <a:rPr lang="it-IT" sz="1600" dirty="0"/>
              <a:t> and update the frequency </a:t>
            </a:r>
            <a:r>
              <a:rPr lang="it-IT" sz="1600" dirty="0" err="1"/>
              <a:t>count</a:t>
            </a:r>
            <a:r>
              <a:rPr lang="it-IT" sz="1600" dirty="0"/>
              <a:t> in the </a:t>
            </a:r>
            <a:r>
              <a:rPr lang="it-IT" sz="1600" dirty="0" err="1"/>
              <a:t>dictionary</a:t>
            </a:r>
            <a:endParaRPr lang="it-IT" sz="1600" dirty="0"/>
          </a:p>
        </p:txBody>
      </p:sp>
      <p:pic>
        <p:nvPicPr>
          <p:cNvPr id="1026" name="Picture 2" descr="N-Grams Definition | DeepAI">
            <a:extLst>
              <a:ext uri="{FF2B5EF4-FFF2-40B4-BE49-F238E27FC236}">
                <a16:creationId xmlns:a16="http://schemas.microsoft.com/office/drawing/2014/main" id="{447355C9-2C9E-C020-97BA-554D1BC048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2296" y="4618281"/>
            <a:ext cx="3770939" cy="1551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3681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96899-8A95-012A-4093-DE6787EA6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D41D0ABC-D4B5-2686-6229-0C2FD7FC0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490" y="0"/>
            <a:ext cx="9180512" cy="687263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9211919B-CBFF-6AED-0202-8F84D4280414}"/>
              </a:ext>
            </a:extLst>
          </p:cNvPr>
          <p:cNvSpPr txBox="1"/>
          <p:nvPr/>
        </p:nvSpPr>
        <p:spPr>
          <a:xfrm>
            <a:off x="648253" y="1305402"/>
            <a:ext cx="57539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V1 </a:t>
            </a:r>
            <a:r>
              <a:rPr lang="it-IT" sz="24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Algorithm</a:t>
            </a:r>
            <a:endParaRPr lang="it-IT" sz="24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DF316B7-D3B6-7B78-F623-09ACC848165D}"/>
              </a:ext>
            </a:extLst>
          </p:cNvPr>
          <p:cNvSpPr txBox="1"/>
          <p:nvPr/>
        </p:nvSpPr>
        <p:spPr>
          <a:xfrm>
            <a:off x="648253" y="17051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>
              <a:latin typeface="Arial"/>
              <a:cs typeface="Arial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DAC3D4D7-67ED-520C-7799-6BE2C45D966C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A8650AAD-17CB-BD57-4598-8B70C14B6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7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857835C8-1F74-E59A-CEB8-3B36C448693E}"/>
                  </a:ext>
                </a:extLst>
              </p:cNvPr>
              <p:cNvSpPr txBox="1"/>
              <p:nvPr/>
            </p:nvSpPr>
            <p:spPr>
              <a:xfrm>
                <a:off x="648253" y="2291993"/>
                <a:ext cx="7887510" cy="28007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600" dirty="0"/>
                  <a:t>V1 </a:t>
                </a:r>
                <a:r>
                  <a:rPr lang="it-IT" sz="1600" dirty="0" err="1"/>
                  <a:t>algorithm</a:t>
                </a:r>
                <a:r>
                  <a:rPr lang="it-IT" sz="1600" dirty="0"/>
                  <a:t> </a:t>
                </a:r>
                <a:r>
                  <a:rPr lang="it-IT" sz="1600" dirty="0" err="1"/>
                  <a:t>uses</a:t>
                </a:r>
                <a:r>
                  <a:rPr lang="it-IT" sz="1600" dirty="0"/>
                  <a:t> a </a:t>
                </a:r>
                <a:r>
                  <a:rPr lang="it-IT" sz="1600" dirty="0" err="1"/>
                  <a:t>direct</a:t>
                </a:r>
                <a:r>
                  <a:rPr lang="it-IT" sz="1600" dirty="0"/>
                  <a:t> </a:t>
                </a:r>
                <a:r>
                  <a:rPr lang="it-IT" sz="1600" dirty="0" err="1"/>
                  <a:t>parallelization</a:t>
                </a:r>
                <a:r>
                  <a:rPr lang="it-IT" sz="1600" dirty="0"/>
                  <a:t> strategy mapping 1 </a:t>
                </a:r>
                <a:r>
                  <a:rPr lang="it-IT" sz="1600" dirty="0" err="1"/>
                  <a:t>thread</a:t>
                </a:r>
                <a:r>
                  <a:rPr lang="it-IT" sz="1600" dirty="0"/>
                  <a:t> to 1 </a:t>
                </a:r>
                <a:r>
                  <a:rPr lang="it-IT" sz="1600" dirty="0" err="1"/>
                  <a:t>N-gram</a:t>
                </a:r>
                <a:r>
                  <a:rPr lang="it-IT" sz="1600" dirty="0"/>
                  <a:t>. The </a:t>
                </a:r>
                <a:r>
                  <a:rPr lang="it-IT" sz="1600" dirty="0" err="1"/>
                  <a:t>structure</a:t>
                </a:r>
                <a:r>
                  <a:rPr lang="it-IT" sz="1600" dirty="0"/>
                  <a:t> </a:t>
                </a:r>
                <a:r>
                  <a:rPr lang="it-IT" sz="1600" dirty="0" err="1"/>
                  <a:t>is</a:t>
                </a:r>
                <a:r>
                  <a:rPr lang="it-IT" sz="1600" dirty="0"/>
                  <a:t> a single </a:t>
                </a:r>
                <a:r>
                  <a:rPr lang="it-IT" sz="1600" dirty="0" err="1"/>
                  <a:t>shared</a:t>
                </a:r>
                <a:r>
                  <a:rPr lang="it-IT" sz="1600" dirty="0"/>
                  <a:t> global </a:t>
                </a:r>
                <a:r>
                  <a:rPr lang="it-IT" sz="1600" dirty="0" err="1"/>
                  <a:t>histogram</a:t>
                </a:r>
                <a:r>
                  <a:rPr lang="it-IT" sz="1600" dirty="0"/>
                  <a:t> in VRAM.</a:t>
                </a:r>
              </a:p>
              <a:p>
                <a:endParaRPr lang="it-IT" sz="1600" dirty="0"/>
              </a:p>
              <a:p>
                <a:r>
                  <a:rPr lang="it-IT" sz="1600" dirty="0" err="1"/>
                  <a:t>We</a:t>
                </a:r>
                <a:r>
                  <a:rPr lang="it-IT" sz="1600" dirty="0"/>
                  <a:t> allocate a </a:t>
                </a:r>
                <a:r>
                  <a:rPr lang="it-IT" sz="1600" dirty="0" err="1"/>
                  <a:t>contiguous</a:t>
                </a:r>
                <a:r>
                  <a:rPr lang="it-IT" sz="1600" dirty="0"/>
                  <a:t> </a:t>
                </a:r>
                <a:r>
                  <a:rPr lang="it-IT" sz="1600" dirty="0" err="1"/>
                  <a:t>memory</a:t>
                </a:r>
                <a:r>
                  <a:rPr lang="it-IT" sz="1600" dirty="0"/>
                  <a:t> </a:t>
                </a:r>
                <a:r>
                  <a:rPr lang="it-IT" sz="1600" dirty="0" err="1"/>
                  <a:t>block</a:t>
                </a:r>
                <a:r>
                  <a:rPr lang="it-IT" sz="1600" dirty="0"/>
                  <a:t> of size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256</m:t>
                        </m:r>
                      </m:e>
                      <m:sup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it-IT" sz="1600" dirty="0"/>
                  <a:t> and </a:t>
                </a:r>
                <a:r>
                  <a:rPr lang="it-IT" sz="1600" dirty="0" err="1"/>
                  <a:t>calculate</a:t>
                </a:r>
                <a:r>
                  <a:rPr lang="it-IT" sz="1600" dirty="0"/>
                  <a:t> the </a:t>
                </a:r>
                <a:r>
                  <a:rPr lang="it-IT" sz="1600" dirty="0" err="1"/>
                  <a:t>flat</a:t>
                </a:r>
                <a:r>
                  <a:rPr lang="it-IT" sz="1600" dirty="0"/>
                  <a:t> index for the </a:t>
                </a:r>
                <a:r>
                  <a:rPr lang="it-IT" sz="1600" dirty="0" err="1"/>
                  <a:t>specific</a:t>
                </a:r>
                <a:r>
                  <a:rPr lang="it-IT" sz="1600" dirty="0"/>
                  <a:t> </a:t>
                </a:r>
                <a:r>
                  <a:rPr lang="it-IT" sz="1600" dirty="0" err="1"/>
                  <a:t>N-gram</a:t>
                </a:r>
                <a:r>
                  <a:rPr lang="it-IT" sz="1600" dirty="0"/>
                  <a:t> </a:t>
                </a:r>
                <a:r>
                  <a:rPr lang="it-IT" sz="1600" dirty="0" err="1"/>
                  <a:t>performing</a:t>
                </a:r>
                <a:r>
                  <a:rPr lang="it-IT" sz="1600" dirty="0"/>
                  <a:t> an </a:t>
                </a:r>
                <a:r>
                  <a:rPr lang="it-IT" sz="1600" i="1" dirty="0" err="1"/>
                  <a:t>atomicAdd</a:t>
                </a:r>
                <a:r>
                  <a:rPr lang="it-IT" sz="1600" i="1" dirty="0"/>
                  <a:t> </a:t>
                </a:r>
                <a:r>
                  <a:rPr lang="it-IT" sz="1600" dirty="0"/>
                  <a:t>on the global counter.</a:t>
                </a:r>
                <a:endParaRPr lang="it-IT" sz="1600" i="1" dirty="0"/>
              </a:p>
              <a:p>
                <a:endParaRPr lang="it-IT" sz="1600" dirty="0"/>
              </a:p>
              <a:p>
                <a:r>
                  <a:rPr lang="it-IT" sz="1600" dirty="0"/>
                  <a:t>The </a:t>
                </a:r>
                <a:r>
                  <a:rPr lang="it-IT" sz="1600" dirty="0" err="1"/>
                  <a:t>main</a:t>
                </a:r>
                <a:r>
                  <a:rPr lang="it-IT" sz="1600" dirty="0"/>
                  <a:t> </a:t>
                </a:r>
                <a:r>
                  <a:rPr lang="it-IT" sz="1600" dirty="0" err="1"/>
                  <a:t>bottleneck</a:t>
                </a:r>
                <a:r>
                  <a:rPr lang="it-IT" sz="1600" dirty="0"/>
                  <a:t> </a:t>
                </a:r>
                <a:r>
                  <a:rPr lang="it-IT" sz="1600" dirty="0" err="1"/>
                  <a:t>is</a:t>
                </a:r>
                <a:r>
                  <a:rPr lang="it-IT" sz="1600" dirty="0"/>
                  <a:t> the </a:t>
                </a:r>
                <a:r>
                  <a:rPr lang="it-IT" sz="1600" dirty="0" err="1"/>
                  <a:t>memory</a:t>
                </a:r>
                <a:r>
                  <a:rPr lang="it-IT" sz="1600" dirty="0"/>
                  <a:t> </a:t>
                </a:r>
                <a:r>
                  <a:rPr lang="it-IT" sz="1600" dirty="0" err="1"/>
                  <a:t>constraint</a:t>
                </a:r>
                <a:r>
                  <a:rPr lang="it-IT" sz="1600" dirty="0"/>
                  <a:t> </a:t>
                </a:r>
                <a:r>
                  <a:rPr lang="it-IT" sz="1600" dirty="0" err="1"/>
                  <a:t>given</a:t>
                </a:r>
                <a:r>
                  <a:rPr lang="it-IT" sz="1600" dirty="0"/>
                  <a:t> by </a:t>
                </a:r>
                <a:r>
                  <a:rPr lang="it-IT" sz="1600" dirty="0" err="1"/>
                  <a:t>histogram</a:t>
                </a:r>
                <a:r>
                  <a:rPr lang="it-IT" sz="1600" dirty="0"/>
                  <a:t> array </a:t>
                </a:r>
                <a:r>
                  <a:rPr lang="it-IT" sz="1600" dirty="0" err="1"/>
                  <a:t>allocation</a:t>
                </a:r>
                <a:r>
                  <a:rPr lang="it-IT" sz="1600" dirty="0"/>
                  <a:t> </a:t>
                </a:r>
                <a:r>
                  <a:rPr lang="it-IT" sz="1600" dirty="0" err="1"/>
                  <a:t>which</a:t>
                </a:r>
                <a:r>
                  <a:rPr lang="it-IT" sz="1600" dirty="0"/>
                  <a:t> </a:t>
                </a:r>
                <a:r>
                  <a:rPr lang="it-IT" sz="1600" dirty="0" err="1"/>
                  <a:t>has</a:t>
                </a:r>
                <a:r>
                  <a:rPr lang="it-IT" sz="1600" dirty="0"/>
                  <a:t> an </a:t>
                </a:r>
                <a:r>
                  <a:rPr lang="it-IT" sz="1600" dirty="0" err="1"/>
                  <a:t>exponential</a:t>
                </a:r>
                <a:r>
                  <a:rPr lang="it-IT" sz="1600" dirty="0"/>
                  <a:t> </a:t>
                </a:r>
                <a:r>
                  <a:rPr lang="it-IT" sz="1600" dirty="0" err="1"/>
                  <a:t>complexity</a:t>
                </a:r>
                <a:r>
                  <a:rPr lang="it-IT" sz="1600" dirty="0"/>
                  <a:t>:</a:t>
                </a:r>
              </a:p>
              <a:p>
                <a:endParaRPr lang="it-IT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600" dirty="0" err="1"/>
                  <a:t>n</a:t>
                </a:r>
                <a:r>
                  <a:rPr lang="it-IT" sz="1600" dirty="0"/>
                  <a:t>=2: size ≈ </a:t>
                </a:r>
                <a:r>
                  <a:rPr lang="it-IT" sz="1600" b="1" dirty="0"/>
                  <a:t>256kb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600" dirty="0"/>
                  <a:t>n=4: size ≈ </a:t>
                </a:r>
                <a:r>
                  <a:rPr lang="it-IT" sz="1600" b="1" dirty="0"/>
                  <a:t>16gb</a:t>
                </a:r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857835C8-1F74-E59A-CEB8-3B36C44869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253" y="2291993"/>
                <a:ext cx="7887510" cy="2800767"/>
              </a:xfrm>
              <a:prstGeom prst="rect">
                <a:avLst/>
              </a:prstGeom>
              <a:blipFill>
                <a:blip r:embed="rId4"/>
                <a:stretch>
                  <a:fillRect l="-322" t="-452" b="-181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4493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73931-237D-0489-6AAD-0E489AF48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D74D91DD-1860-04A3-04AF-BFBE1EFD0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490" y="0"/>
            <a:ext cx="9180512" cy="687263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A264DB79-56A1-2348-59AA-05CA4BBBA4DF}"/>
              </a:ext>
            </a:extLst>
          </p:cNvPr>
          <p:cNvSpPr txBox="1"/>
          <p:nvPr/>
        </p:nvSpPr>
        <p:spPr>
          <a:xfrm>
            <a:off x="648253" y="1305402"/>
            <a:ext cx="57539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V2 </a:t>
            </a:r>
            <a:r>
              <a:rPr lang="it-IT" sz="24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Algorithm</a:t>
            </a:r>
            <a:endParaRPr lang="it-IT" sz="24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405C8FA-0A20-8926-6718-6BF5ECF28732}"/>
              </a:ext>
            </a:extLst>
          </p:cNvPr>
          <p:cNvSpPr txBox="1"/>
          <p:nvPr/>
        </p:nvSpPr>
        <p:spPr>
          <a:xfrm>
            <a:off x="648253" y="17051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>
              <a:latin typeface="Arial"/>
              <a:cs typeface="Arial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8883CC67-6019-0F5C-CBB6-8DAF146ACFBF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6FA7CC70-194F-1FCE-7C99-CFEBDA5DC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8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BE5E2AA-C50F-B42B-658F-85D17D3587DE}"/>
              </a:ext>
            </a:extLst>
          </p:cNvPr>
          <p:cNvSpPr txBox="1"/>
          <p:nvPr/>
        </p:nvSpPr>
        <p:spPr>
          <a:xfrm>
            <a:off x="648253" y="2291993"/>
            <a:ext cx="788751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In V2 </a:t>
            </a:r>
            <a:r>
              <a:rPr lang="it-IT" sz="1600" dirty="0" err="1"/>
              <a:t>we</a:t>
            </a:r>
            <a:r>
              <a:rPr lang="it-IT" sz="1600" dirty="0"/>
              <a:t> </a:t>
            </a:r>
            <a:r>
              <a:rPr lang="it-IT" sz="1600" dirty="0" err="1"/>
              <a:t>want</a:t>
            </a:r>
            <a:r>
              <a:rPr lang="it-IT" sz="1600" dirty="0"/>
              <a:t> to mitigate the </a:t>
            </a:r>
            <a:r>
              <a:rPr lang="it-IT" sz="1600" dirty="0" err="1"/>
              <a:t>traffic</a:t>
            </a:r>
            <a:r>
              <a:rPr lang="it-IT" sz="1600" dirty="0"/>
              <a:t> on single </a:t>
            </a:r>
            <a:r>
              <a:rPr lang="it-IT" sz="1600" dirty="0" err="1"/>
              <a:t>memory</a:t>
            </a:r>
            <a:r>
              <a:rPr lang="it-IT" sz="1600" dirty="0"/>
              <a:t> </a:t>
            </a:r>
            <a:r>
              <a:rPr lang="it-IT" sz="1600" dirty="0" err="1"/>
              <a:t>addresses</a:t>
            </a:r>
            <a:r>
              <a:rPr lang="it-IT" sz="1600" dirty="0"/>
              <a:t> so </a:t>
            </a:r>
            <a:r>
              <a:rPr lang="it-IT" sz="1600" dirty="0" err="1"/>
              <a:t>we</a:t>
            </a:r>
            <a:r>
              <a:rPr lang="it-IT" sz="1600" dirty="0"/>
              <a:t> </a:t>
            </a:r>
            <a:r>
              <a:rPr lang="it-IT" sz="1600" dirty="0" err="1"/>
              <a:t>replace</a:t>
            </a:r>
            <a:r>
              <a:rPr lang="it-IT" sz="1600" dirty="0"/>
              <a:t> the global </a:t>
            </a:r>
            <a:r>
              <a:rPr lang="it-IT" sz="1600" dirty="0" err="1"/>
              <a:t>histogram</a:t>
            </a:r>
            <a:r>
              <a:rPr lang="it-IT" sz="1600" dirty="0"/>
              <a:t> with K separate private </a:t>
            </a:r>
            <a:r>
              <a:rPr lang="it-IT" sz="1600" dirty="0" err="1"/>
              <a:t>histograms</a:t>
            </a:r>
            <a:r>
              <a:rPr lang="it-IT" sz="1600" dirty="0"/>
              <a:t>.</a:t>
            </a:r>
          </a:p>
          <a:p>
            <a:endParaRPr lang="it-IT" sz="1600" b="1" dirty="0"/>
          </a:p>
          <a:p>
            <a:r>
              <a:rPr lang="it-IT" sz="1600" dirty="0" err="1"/>
              <a:t>There</a:t>
            </a:r>
            <a:r>
              <a:rPr lang="it-IT" sz="1600" dirty="0"/>
              <a:t> </a:t>
            </a:r>
            <a:r>
              <a:rPr lang="it-IT" sz="1600" dirty="0" err="1"/>
              <a:t>is</a:t>
            </a:r>
            <a:r>
              <a:rPr lang="it-IT" sz="1600" dirty="0"/>
              <a:t> a </a:t>
            </a:r>
            <a:r>
              <a:rPr lang="it-IT" sz="1600" dirty="0" err="1"/>
              <a:t>two</a:t>
            </a:r>
            <a:r>
              <a:rPr lang="it-IT" sz="1600" dirty="0"/>
              <a:t> stage </a:t>
            </a:r>
            <a:r>
              <a:rPr lang="it-IT" sz="1600" dirty="0" err="1"/>
              <a:t>implementation</a:t>
            </a:r>
            <a:r>
              <a:rPr lang="it-IT" sz="1600" dirty="0"/>
              <a:t>:</a:t>
            </a:r>
          </a:p>
          <a:p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Private </a:t>
            </a:r>
            <a:r>
              <a:rPr lang="it-IT" sz="1600" dirty="0" err="1"/>
              <a:t>population</a:t>
            </a:r>
            <a:r>
              <a:rPr lang="it-IT" sz="1600" dirty="0"/>
              <a:t>: </a:t>
            </a:r>
            <a:r>
              <a:rPr lang="it-IT" sz="1600" dirty="0" err="1"/>
              <a:t>threads</a:t>
            </a:r>
            <a:r>
              <a:rPr lang="it-IT" sz="1600" dirty="0"/>
              <a:t> compute the </a:t>
            </a:r>
            <a:r>
              <a:rPr lang="it-IT" sz="1600" dirty="0" err="1"/>
              <a:t>flat</a:t>
            </a:r>
            <a:r>
              <a:rPr lang="it-IT" sz="1600" dirty="0"/>
              <a:t> index and </a:t>
            </a:r>
            <a:r>
              <a:rPr lang="it-IT" sz="1600" dirty="0" err="1"/>
              <a:t>instead</a:t>
            </a:r>
            <a:r>
              <a:rPr lang="it-IT" sz="1600" dirty="0"/>
              <a:t> of writing </a:t>
            </a:r>
            <a:r>
              <a:rPr lang="it-IT" sz="1600" dirty="0" err="1"/>
              <a:t>globally</a:t>
            </a:r>
            <a:r>
              <a:rPr lang="it-IT" sz="1600" dirty="0"/>
              <a:t>, </a:t>
            </a:r>
            <a:r>
              <a:rPr lang="it-IT" sz="1600" dirty="0" err="1"/>
              <a:t>they</a:t>
            </a:r>
            <a:r>
              <a:rPr lang="it-IT" sz="1600" dirty="0"/>
              <a:t> </a:t>
            </a:r>
            <a:r>
              <a:rPr lang="it-IT" sz="1600" dirty="0" err="1"/>
              <a:t>select</a:t>
            </a:r>
            <a:r>
              <a:rPr lang="it-IT" sz="1600" dirty="0"/>
              <a:t> a </a:t>
            </a:r>
            <a:r>
              <a:rPr lang="it-IT" sz="1600" dirty="0" err="1"/>
              <a:t>specific</a:t>
            </a:r>
            <a:r>
              <a:rPr lang="it-IT" sz="1600" dirty="0"/>
              <a:t> private </a:t>
            </a:r>
            <a:r>
              <a:rPr lang="it-IT" sz="1600" dirty="0" err="1"/>
              <a:t>histogram</a:t>
            </a:r>
            <a:r>
              <a:rPr lang="it-IT" sz="1600" dirty="0"/>
              <a:t> </a:t>
            </a:r>
            <a:r>
              <a:rPr lang="it-IT" sz="1600" dirty="0" err="1"/>
              <a:t>based</a:t>
            </a:r>
            <a:r>
              <a:rPr lang="it-IT" sz="1600" dirty="0"/>
              <a:t> on </a:t>
            </a:r>
            <a:r>
              <a:rPr lang="it-IT" sz="1600" dirty="0" err="1"/>
              <a:t>their</a:t>
            </a:r>
            <a:r>
              <a:rPr lang="it-IT" sz="1600" dirty="0"/>
              <a:t> </a:t>
            </a:r>
            <a:r>
              <a:rPr lang="it-IT" sz="1600" dirty="0" err="1"/>
              <a:t>block</a:t>
            </a:r>
            <a:r>
              <a:rPr lang="it-IT" sz="1600" dirty="0"/>
              <a:t> 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Global </a:t>
            </a:r>
            <a:r>
              <a:rPr lang="it-IT" sz="1600" dirty="0" err="1"/>
              <a:t>Reduction</a:t>
            </a:r>
            <a:r>
              <a:rPr lang="it-IT" sz="1600" dirty="0"/>
              <a:t>: A </a:t>
            </a:r>
            <a:r>
              <a:rPr lang="it-IT" sz="1600" dirty="0" err="1"/>
              <a:t>synchronization</a:t>
            </a:r>
            <a:r>
              <a:rPr lang="it-IT" sz="1600" dirty="0"/>
              <a:t> </a:t>
            </a:r>
            <a:r>
              <a:rPr lang="it-IT" sz="1600" dirty="0" err="1"/>
              <a:t>barrier</a:t>
            </a:r>
            <a:r>
              <a:rPr lang="it-IT" sz="1600" dirty="0"/>
              <a:t> </a:t>
            </a:r>
            <a:r>
              <a:rPr lang="it-IT" sz="1600" dirty="0" err="1"/>
              <a:t>separates</a:t>
            </a:r>
            <a:r>
              <a:rPr lang="it-IT" sz="1600" dirty="0"/>
              <a:t> the kernels and a second kernel </a:t>
            </a:r>
            <a:r>
              <a:rPr lang="it-IT" sz="1600" dirty="0" err="1"/>
              <a:t>iterates</a:t>
            </a:r>
            <a:r>
              <a:rPr lang="it-IT" sz="1600" dirty="0"/>
              <a:t> </a:t>
            </a:r>
            <a:r>
              <a:rPr lang="it-IT" sz="1600" dirty="0" err="1"/>
              <a:t>through</a:t>
            </a:r>
            <a:r>
              <a:rPr lang="it-IT" sz="1600" dirty="0"/>
              <a:t> the k private </a:t>
            </a:r>
            <a:r>
              <a:rPr lang="it-IT" sz="1600" dirty="0" err="1"/>
              <a:t>histograms</a:t>
            </a:r>
            <a:r>
              <a:rPr lang="it-IT" sz="1600" dirty="0"/>
              <a:t> </a:t>
            </a:r>
            <a:r>
              <a:rPr lang="it-IT" sz="1600" dirty="0" err="1"/>
              <a:t>summing</a:t>
            </a:r>
            <a:r>
              <a:rPr lang="it-IT" sz="1600" dirty="0"/>
              <a:t> the </a:t>
            </a:r>
            <a:r>
              <a:rPr lang="it-IT" sz="1600" dirty="0" err="1"/>
              <a:t>partial</a:t>
            </a:r>
            <a:r>
              <a:rPr lang="it-IT" sz="1600" dirty="0"/>
              <a:t> </a:t>
            </a:r>
            <a:r>
              <a:rPr lang="it-IT" sz="1600" dirty="0" err="1"/>
              <a:t>counts</a:t>
            </a:r>
            <a:r>
              <a:rPr lang="it-IT" sz="1600" dirty="0"/>
              <a:t> </a:t>
            </a:r>
            <a:r>
              <a:rPr lang="it-IT" sz="1600" dirty="0" err="1"/>
              <a:t>into</a:t>
            </a:r>
            <a:r>
              <a:rPr lang="it-IT" sz="1600" dirty="0"/>
              <a:t> the global </a:t>
            </a:r>
            <a:r>
              <a:rPr lang="it-IT" sz="1600" dirty="0" err="1"/>
              <a:t>result</a:t>
            </a:r>
            <a:endParaRPr lang="it-IT" sz="1600" dirty="0"/>
          </a:p>
          <a:p>
            <a:endParaRPr lang="it-IT" sz="1600" dirty="0"/>
          </a:p>
          <a:p>
            <a:r>
              <a:rPr lang="it-IT" sz="1600" dirty="0" err="1"/>
              <a:t>We</a:t>
            </a:r>
            <a:r>
              <a:rPr lang="it-IT" sz="1600" dirty="0"/>
              <a:t> eliminate the global </a:t>
            </a:r>
            <a:r>
              <a:rPr lang="it-IT" sz="1600" dirty="0" err="1"/>
              <a:t>atomic</a:t>
            </a:r>
            <a:r>
              <a:rPr lang="it-IT" sz="1600" dirty="0"/>
              <a:t> </a:t>
            </a:r>
            <a:r>
              <a:rPr lang="it-IT" sz="1600" dirty="0" err="1"/>
              <a:t>contention</a:t>
            </a:r>
            <a:r>
              <a:rPr lang="it-IT" sz="1600" dirty="0"/>
              <a:t> </a:t>
            </a:r>
            <a:r>
              <a:rPr lang="it-IT" sz="1600" dirty="0" err="1"/>
              <a:t>but</a:t>
            </a:r>
            <a:r>
              <a:rPr lang="it-IT" sz="1600" dirty="0"/>
              <a:t> </a:t>
            </a:r>
            <a:r>
              <a:rPr lang="it-IT" sz="1600" dirty="0" err="1"/>
              <a:t>there</a:t>
            </a:r>
            <a:r>
              <a:rPr lang="it-IT" sz="1600" dirty="0"/>
              <a:t> </a:t>
            </a:r>
            <a:r>
              <a:rPr lang="it-IT" sz="1600" dirty="0" err="1"/>
              <a:t>is</a:t>
            </a:r>
            <a:r>
              <a:rPr lang="it-IT" sz="1600" dirty="0"/>
              <a:t> </a:t>
            </a:r>
            <a:r>
              <a:rPr lang="it-IT" sz="1600" dirty="0" err="1"/>
              <a:t>now</a:t>
            </a:r>
            <a:r>
              <a:rPr lang="it-IT" sz="1600" dirty="0"/>
              <a:t> a </a:t>
            </a:r>
            <a:r>
              <a:rPr lang="it-IT" sz="1600" dirty="0" err="1"/>
              <a:t>multiplied</a:t>
            </a:r>
            <a:r>
              <a:rPr lang="it-IT" sz="1600" dirty="0"/>
              <a:t> </a:t>
            </a:r>
            <a:r>
              <a:rPr lang="it-IT" sz="1600" dirty="0" err="1"/>
              <a:t>memory</a:t>
            </a:r>
            <a:r>
              <a:rPr lang="it-IT" sz="1600" dirty="0"/>
              <a:t> </a:t>
            </a:r>
            <a:r>
              <a:rPr lang="it-IT" sz="1600" dirty="0" err="1"/>
              <a:t>factor</a:t>
            </a:r>
            <a:r>
              <a:rPr lang="it-IT" sz="1600" dirty="0"/>
              <a:t> by K.</a:t>
            </a:r>
          </a:p>
          <a:p>
            <a:endParaRPr lang="it-IT" sz="1600" dirty="0"/>
          </a:p>
          <a:p>
            <a:r>
              <a:rPr lang="it-IT" sz="1600" dirty="0" err="1"/>
              <a:t>This</a:t>
            </a:r>
            <a:r>
              <a:rPr lang="it-IT" sz="1600" dirty="0"/>
              <a:t> </a:t>
            </a:r>
            <a:r>
              <a:rPr lang="it-IT" sz="1600" dirty="0" err="1"/>
              <a:t>results</a:t>
            </a:r>
            <a:r>
              <a:rPr lang="it-IT" sz="1600" dirty="0"/>
              <a:t> in </a:t>
            </a:r>
            <a:r>
              <a:rPr lang="it-IT" sz="1600" dirty="0" err="1"/>
              <a:t>faster</a:t>
            </a:r>
            <a:r>
              <a:rPr lang="it-IT" sz="1600" dirty="0"/>
              <a:t> </a:t>
            </a:r>
            <a:r>
              <a:rPr lang="it-IT" sz="1600" dirty="0" err="1"/>
              <a:t>results</a:t>
            </a:r>
            <a:r>
              <a:rPr lang="it-IT" sz="1600" dirty="0"/>
              <a:t> for small </a:t>
            </a:r>
            <a:r>
              <a:rPr lang="it-IT" sz="1600" dirty="0" err="1"/>
              <a:t>n</a:t>
            </a:r>
            <a:r>
              <a:rPr lang="it-IT" sz="1600" dirty="0"/>
              <a:t> </a:t>
            </a:r>
            <a:r>
              <a:rPr lang="it-IT" sz="1600" dirty="0" err="1"/>
              <a:t>but</a:t>
            </a:r>
            <a:r>
              <a:rPr lang="it-IT" sz="1600" dirty="0"/>
              <a:t> </a:t>
            </a:r>
            <a:r>
              <a:rPr lang="it-IT" sz="1600" dirty="0" err="1"/>
              <a:t>causes</a:t>
            </a:r>
            <a:r>
              <a:rPr lang="it-IT" sz="1600" dirty="0"/>
              <a:t> OOM </a:t>
            </a:r>
            <a:r>
              <a:rPr lang="it-IT" sz="1600" dirty="0" err="1"/>
              <a:t>errors</a:t>
            </a:r>
            <a:r>
              <a:rPr lang="it-IT" sz="1600" dirty="0"/>
              <a:t> for </a:t>
            </a:r>
            <a:r>
              <a:rPr lang="it-IT" sz="1600" dirty="0" err="1"/>
              <a:t>greater</a:t>
            </a:r>
            <a:r>
              <a:rPr lang="it-IT" sz="1600" dirty="0"/>
              <a:t> </a:t>
            </a:r>
            <a:r>
              <a:rPr lang="it-IT" sz="1600" dirty="0" err="1"/>
              <a:t>values</a:t>
            </a:r>
            <a:endParaRPr lang="it-IT" sz="1600" dirty="0"/>
          </a:p>
        </p:txBody>
      </p:sp>
    </p:spTree>
    <p:extLst>
      <p:ext uri="{BB962C8B-B14F-4D97-AF65-F5344CB8AC3E}">
        <p14:creationId xmlns:p14="http://schemas.microsoft.com/office/powerpoint/2010/main" val="1836502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22C93-541F-391A-0420-39221303B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2B3E972A-11B1-4230-5C69-0FE9FF3EB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490" y="0"/>
            <a:ext cx="9180512" cy="687263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7ACAC65E-DB4C-896B-40E6-7E620D5501A3}"/>
              </a:ext>
            </a:extLst>
          </p:cNvPr>
          <p:cNvSpPr txBox="1"/>
          <p:nvPr/>
        </p:nvSpPr>
        <p:spPr>
          <a:xfrm>
            <a:off x="648253" y="1305402"/>
            <a:ext cx="57539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B </a:t>
            </a:r>
            <a:r>
              <a:rPr lang="it-IT" sz="24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Algorithm</a:t>
            </a:r>
            <a:endParaRPr lang="it-IT" sz="24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A851DB8-41BD-9BD8-731E-677BACD0D9B5}"/>
              </a:ext>
            </a:extLst>
          </p:cNvPr>
          <p:cNvSpPr txBox="1"/>
          <p:nvPr/>
        </p:nvSpPr>
        <p:spPr>
          <a:xfrm>
            <a:off x="648253" y="17051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>
              <a:latin typeface="Arial"/>
              <a:cs typeface="Arial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351DDCB7-49CF-8CB1-BA51-8F1F996E4634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2AC3B6BB-3099-93D4-0027-6C7201A56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9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7C8B496F-16EA-BCB2-2A98-9D8FB79DBE98}"/>
              </a:ext>
            </a:extLst>
          </p:cNvPr>
          <p:cNvSpPr txBox="1"/>
          <p:nvPr/>
        </p:nvSpPr>
        <p:spPr>
          <a:xfrm>
            <a:off x="648253" y="2291993"/>
            <a:ext cx="788751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/>
              <a:t>We</a:t>
            </a:r>
            <a:r>
              <a:rPr lang="it-IT" sz="1600" dirty="0"/>
              <a:t> use a </a:t>
            </a:r>
            <a:r>
              <a:rPr lang="it-IT" sz="1600" dirty="0" err="1"/>
              <a:t>Map</a:t>
            </a:r>
            <a:r>
              <a:rPr lang="it-IT" sz="1600" dirty="0"/>
              <a:t>-Sort-Reduce strategy </a:t>
            </a:r>
            <a:r>
              <a:rPr lang="it-IT" sz="1600" dirty="0" err="1"/>
              <a:t>where</a:t>
            </a:r>
            <a:r>
              <a:rPr lang="it-IT" sz="1600" dirty="0"/>
              <a:t> </a:t>
            </a:r>
            <a:r>
              <a:rPr lang="it-IT" sz="1600" dirty="0" err="1"/>
              <a:t>now</a:t>
            </a:r>
            <a:r>
              <a:rPr lang="it-IT" sz="1600" dirty="0"/>
              <a:t> the </a:t>
            </a:r>
            <a:r>
              <a:rPr lang="it-IT" sz="1600" dirty="0" err="1"/>
              <a:t>memory</a:t>
            </a:r>
            <a:r>
              <a:rPr lang="it-IT" sz="1600" dirty="0"/>
              <a:t> footprint </a:t>
            </a:r>
            <a:r>
              <a:rPr lang="it-IT" sz="1600" dirty="0" err="1"/>
              <a:t>is</a:t>
            </a:r>
            <a:r>
              <a:rPr lang="it-IT" sz="1600" dirty="0"/>
              <a:t> </a:t>
            </a:r>
            <a:r>
              <a:rPr lang="it-IT" sz="1600" dirty="0" err="1"/>
              <a:t>ruled</a:t>
            </a:r>
            <a:r>
              <a:rPr lang="it-IT" sz="1600" dirty="0"/>
              <a:t> by the </a:t>
            </a:r>
            <a:r>
              <a:rPr lang="it-IT" sz="1600" dirty="0" err="1"/>
              <a:t>number</a:t>
            </a:r>
            <a:r>
              <a:rPr lang="it-IT" sz="1600" dirty="0"/>
              <a:t> of </a:t>
            </a:r>
            <a:r>
              <a:rPr lang="it-IT" sz="1600" dirty="0" err="1"/>
              <a:t>N-grams</a:t>
            </a:r>
            <a:r>
              <a:rPr lang="it-IT" sz="1600" dirty="0"/>
              <a:t> O(</a:t>
            </a:r>
            <a:r>
              <a:rPr lang="it-IT" sz="1600" dirty="0" err="1"/>
              <a:t>N</a:t>
            </a:r>
            <a:r>
              <a:rPr lang="it-IT" sz="1600" dirty="0"/>
              <a:t>). </a:t>
            </a:r>
          </a:p>
          <a:p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Phase</a:t>
            </a:r>
            <a:r>
              <a:rPr lang="it-IT" sz="1600" dirty="0"/>
              <a:t> 1 </a:t>
            </a:r>
            <a:r>
              <a:rPr lang="it-IT" sz="1600" b="1" dirty="0" err="1"/>
              <a:t>Map</a:t>
            </a:r>
            <a:r>
              <a:rPr lang="it-IT" sz="1600" dirty="0"/>
              <a:t>: </a:t>
            </a:r>
            <a:r>
              <a:rPr lang="it-IT" sz="1600" dirty="0" err="1"/>
              <a:t>each</a:t>
            </a:r>
            <a:r>
              <a:rPr lang="it-IT" sz="1600" dirty="0"/>
              <a:t> </a:t>
            </a:r>
            <a:r>
              <a:rPr lang="it-IT" sz="1600" dirty="0" err="1"/>
              <a:t>thread</a:t>
            </a:r>
            <a:r>
              <a:rPr lang="it-IT" sz="1600" dirty="0"/>
              <a:t> </a:t>
            </a:r>
            <a:r>
              <a:rPr lang="it-IT" sz="1600" dirty="0" err="1"/>
              <a:t>computes</a:t>
            </a:r>
            <a:r>
              <a:rPr lang="it-IT" sz="1600" dirty="0"/>
              <a:t> the </a:t>
            </a:r>
            <a:r>
              <a:rPr lang="it-IT" sz="1600" dirty="0" err="1"/>
              <a:t>flat</a:t>
            </a:r>
            <a:r>
              <a:rPr lang="it-IT" sz="1600" dirty="0"/>
              <a:t> index </a:t>
            </a:r>
            <a:r>
              <a:rPr lang="it-IT" sz="1600" dirty="0" err="1"/>
              <a:t>not</a:t>
            </a:r>
            <a:r>
              <a:rPr lang="it-IT" sz="1600" dirty="0"/>
              <a:t> </a:t>
            </a:r>
            <a:r>
              <a:rPr lang="it-IT" sz="1600" dirty="0" err="1"/>
              <a:t>using</a:t>
            </a:r>
            <a:r>
              <a:rPr lang="it-IT" sz="1600" dirty="0"/>
              <a:t> the </a:t>
            </a:r>
            <a:r>
              <a:rPr lang="it-IT" sz="1600" i="1" dirty="0" err="1"/>
              <a:t>atomicAdd</a:t>
            </a:r>
            <a:r>
              <a:rPr lang="it-IT" sz="1600" dirty="0"/>
              <a:t> </a:t>
            </a:r>
            <a:r>
              <a:rPr lang="it-IT" sz="1600" dirty="0" err="1"/>
              <a:t>but</a:t>
            </a:r>
            <a:r>
              <a:rPr lang="it-IT" sz="1600" dirty="0"/>
              <a:t> </a:t>
            </a:r>
            <a:r>
              <a:rPr lang="it-IT" sz="1600" dirty="0" err="1"/>
              <a:t>using</a:t>
            </a:r>
            <a:r>
              <a:rPr lang="it-IT" sz="1600" dirty="0"/>
              <a:t> a </a:t>
            </a:r>
            <a:r>
              <a:rPr lang="it-IT" sz="1600" dirty="0" err="1"/>
              <a:t>contention</a:t>
            </a:r>
            <a:r>
              <a:rPr lang="it-IT" sz="1600" dirty="0"/>
              <a:t>-free </a:t>
            </a:r>
            <a:r>
              <a:rPr lang="it-IT" sz="1600" dirty="0" err="1"/>
              <a:t>write</a:t>
            </a:r>
            <a:r>
              <a:rPr lang="it-IT" sz="1600" dirty="0"/>
              <a:t> of the ID </a:t>
            </a:r>
            <a:r>
              <a:rPr lang="it-IT" sz="1600" dirty="0" err="1"/>
              <a:t>into</a:t>
            </a:r>
            <a:r>
              <a:rPr lang="it-IT" sz="1600" dirty="0"/>
              <a:t> the array</a:t>
            </a:r>
          </a:p>
          <a:p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Phase</a:t>
            </a:r>
            <a:r>
              <a:rPr lang="it-IT" sz="1600" dirty="0"/>
              <a:t> 2 </a:t>
            </a:r>
            <a:r>
              <a:rPr lang="it-IT" sz="1600" b="1" dirty="0"/>
              <a:t>Sort</a:t>
            </a:r>
            <a:r>
              <a:rPr lang="it-IT" sz="1600" dirty="0"/>
              <a:t>: sorts group </a:t>
            </a:r>
            <a:r>
              <a:rPr lang="it-IT" sz="1600" dirty="0" err="1"/>
              <a:t>identical</a:t>
            </a:r>
            <a:r>
              <a:rPr lang="it-IT" sz="1600" dirty="0"/>
              <a:t> </a:t>
            </a:r>
            <a:r>
              <a:rPr lang="it-IT" sz="1600" dirty="0" err="1"/>
              <a:t>N-grams</a:t>
            </a:r>
            <a:r>
              <a:rPr lang="it-IT" sz="1600" dirty="0"/>
              <a:t> </a:t>
            </a:r>
            <a:r>
              <a:rPr lang="it-IT" sz="1600" dirty="0" err="1"/>
              <a:t>IDs</a:t>
            </a:r>
            <a:r>
              <a:rPr lang="it-IT" sz="1600" dirty="0"/>
              <a:t> </a:t>
            </a:r>
            <a:r>
              <a:rPr lang="it-IT" sz="1600" dirty="0" err="1"/>
              <a:t>contiguously</a:t>
            </a: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Phase</a:t>
            </a:r>
            <a:r>
              <a:rPr lang="it-IT" sz="1600" dirty="0"/>
              <a:t> 3 </a:t>
            </a:r>
            <a:r>
              <a:rPr lang="it-IT" sz="1600" b="1" dirty="0"/>
              <a:t>Reduce</a:t>
            </a:r>
            <a:r>
              <a:rPr lang="it-IT" sz="1600" dirty="0"/>
              <a:t>: </a:t>
            </a:r>
            <a:r>
              <a:rPr lang="it-IT" sz="1600" dirty="0" err="1"/>
              <a:t>parallel</a:t>
            </a:r>
            <a:r>
              <a:rPr lang="it-IT" sz="1600" dirty="0"/>
              <a:t> </a:t>
            </a:r>
            <a:r>
              <a:rPr lang="it-IT" sz="1600" dirty="0" err="1"/>
              <a:t>reduction</a:t>
            </a:r>
            <a:r>
              <a:rPr lang="it-IT" sz="1600" dirty="0"/>
              <a:t> </a:t>
            </a:r>
            <a:r>
              <a:rPr lang="it-IT" sz="1600" dirty="0" err="1"/>
              <a:t>that</a:t>
            </a:r>
            <a:r>
              <a:rPr lang="it-IT" sz="1600" dirty="0"/>
              <a:t> </a:t>
            </a:r>
            <a:r>
              <a:rPr lang="it-IT" sz="1600" dirty="0" err="1"/>
              <a:t>counts</a:t>
            </a:r>
            <a:r>
              <a:rPr lang="it-IT" sz="1600" dirty="0"/>
              <a:t> the </a:t>
            </a:r>
            <a:r>
              <a:rPr lang="it-IT" sz="1600" dirty="0" err="1"/>
              <a:t>lenghts</a:t>
            </a:r>
            <a:r>
              <a:rPr lang="it-IT" sz="1600" dirty="0"/>
              <a:t> of </a:t>
            </a:r>
            <a:r>
              <a:rPr lang="it-IT" sz="1600" dirty="0" err="1"/>
              <a:t>contiguous</a:t>
            </a:r>
            <a:r>
              <a:rPr lang="it-IT" sz="1600" dirty="0"/>
              <a:t> </a:t>
            </a:r>
            <a:r>
              <a:rPr lang="it-IT" sz="1600" dirty="0" err="1"/>
              <a:t>segments</a:t>
            </a:r>
            <a:r>
              <a:rPr lang="it-IT" sz="1600" dirty="0"/>
              <a:t> to determine the frequency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5A67A875-7A99-4A08-707C-FE3B8216C0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5208" y="4536966"/>
            <a:ext cx="4247192" cy="2314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477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F8FB0-36F3-13FE-760C-4BCD6E39D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891D8915-F94D-9C17-0449-797FE0F096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490" y="0"/>
            <a:ext cx="9180512" cy="687263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E566C60E-E52E-DE8C-CD6C-9332B31CACC9}"/>
              </a:ext>
            </a:extLst>
          </p:cNvPr>
          <p:cNvSpPr txBox="1"/>
          <p:nvPr/>
        </p:nvSpPr>
        <p:spPr>
          <a:xfrm>
            <a:off x="648253" y="1305402"/>
            <a:ext cx="57539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Test suite </a:t>
            </a:r>
            <a:r>
              <a:rPr lang="it-IT" sz="24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structure</a:t>
            </a:r>
            <a:endParaRPr lang="it-IT" sz="24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474D38F-BFCD-8A4B-9B4B-F313459E1708}"/>
              </a:ext>
            </a:extLst>
          </p:cNvPr>
          <p:cNvSpPr txBox="1"/>
          <p:nvPr/>
        </p:nvSpPr>
        <p:spPr>
          <a:xfrm>
            <a:off x="648253" y="17051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>
              <a:latin typeface="Arial"/>
              <a:cs typeface="Arial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6AFAB192-E536-00C7-5DDF-6F2ED8C1687E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A3B951FB-751E-CF59-81D0-9AC50ECCF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10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D5E8BDE-EC83-1817-D94F-21DCC354502E}"/>
              </a:ext>
            </a:extLst>
          </p:cNvPr>
          <p:cNvSpPr txBox="1"/>
          <p:nvPr/>
        </p:nvSpPr>
        <p:spPr>
          <a:xfrm>
            <a:off x="648253" y="2291993"/>
            <a:ext cx="788751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/>
              <a:t>Each</a:t>
            </a:r>
            <a:r>
              <a:rPr lang="it-IT" sz="1600" dirty="0"/>
              <a:t> </a:t>
            </a:r>
            <a:r>
              <a:rPr lang="it-IT" sz="1600" dirty="0" err="1"/>
              <a:t>algorithm</a:t>
            </a:r>
            <a:r>
              <a:rPr lang="it-IT" sz="1600" dirty="0"/>
              <a:t> </a:t>
            </a:r>
            <a:r>
              <a:rPr lang="it-IT" sz="1600" dirty="0" err="1"/>
              <a:t>receives</a:t>
            </a:r>
            <a:r>
              <a:rPr lang="it-IT" sz="1600" dirty="0"/>
              <a:t> a text input (corpus) </a:t>
            </a:r>
            <a:r>
              <a:rPr lang="it-IT" sz="1600" dirty="0" err="1"/>
              <a:t>that</a:t>
            </a:r>
            <a:r>
              <a:rPr lang="it-IT" sz="1600" dirty="0"/>
              <a:t> </a:t>
            </a:r>
            <a:r>
              <a:rPr lang="it-IT" sz="1600" dirty="0" err="1"/>
              <a:t>is</a:t>
            </a:r>
            <a:r>
              <a:rPr lang="it-IT" sz="1600" dirty="0"/>
              <a:t> </a:t>
            </a:r>
            <a:r>
              <a:rPr lang="it-IT" sz="1600" dirty="0" err="1"/>
              <a:t>duplicated</a:t>
            </a:r>
            <a:r>
              <a:rPr lang="it-IT" sz="1600" dirty="0"/>
              <a:t> in </a:t>
            </a:r>
            <a:r>
              <a:rPr lang="it-IT" sz="1600" dirty="0" err="1"/>
              <a:t>memory</a:t>
            </a:r>
            <a:r>
              <a:rPr lang="it-IT" sz="1600" dirty="0"/>
              <a:t> by an </a:t>
            </a:r>
            <a:r>
              <a:rPr lang="it-IT" sz="1600" dirty="0" err="1"/>
              <a:t>amplification</a:t>
            </a:r>
            <a:r>
              <a:rPr lang="it-IT" sz="1600" dirty="0"/>
              <a:t> </a:t>
            </a:r>
            <a:r>
              <a:rPr lang="it-IT" sz="1600" dirty="0" err="1"/>
              <a:t>factor</a:t>
            </a:r>
            <a:r>
              <a:rPr lang="it-IT" sz="1600" dirty="0"/>
              <a:t> to simulate </a:t>
            </a:r>
            <a:r>
              <a:rPr lang="it-IT" sz="1600" dirty="0" err="1"/>
              <a:t>different</a:t>
            </a:r>
            <a:r>
              <a:rPr lang="it-IT" sz="1600" dirty="0"/>
              <a:t> </a:t>
            </a:r>
            <a:r>
              <a:rPr lang="it-IT" sz="1600" dirty="0" err="1"/>
              <a:t>workload</a:t>
            </a:r>
            <a:r>
              <a:rPr lang="it-IT" sz="1600" dirty="0"/>
              <a:t> sizes and </a:t>
            </a:r>
            <a:r>
              <a:rPr lang="it-IT" sz="1600" dirty="0" err="1"/>
              <a:t>its</a:t>
            </a:r>
            <a:r>
              <a:rPr lang="it-IT" sz="1600" dirty="0"/>
              <a:t> </a:t>
            </a:r>
            <a:r>
              <a:rPr lang="it-IT" sz="1600" dirty="0" err="1"/>
              <a:t>also</a:t>
            </a:r>
            <a:r>
              <a:rPr lang="it-IT" sz="1600" dirty="0"/>
              <a:t> </a:t>
            </a:r>
            <a:r>
              <a:rPr lang="it-IT" sz="1600" dirty="0" err="1"/>
              <a:t>converted</a:t>
            </a:r>
            <a:r>
              <a:rPr lang="it-IT" sz="1600" dirty="0"/>
              <a:t> to an array of bytes to </a:t>
            </a:r>
            <a:r>
              <a:rPr lang="it-IT" sz="1600" dirty="0" err="1"/>
              <a:t>ensure</a:t>
            </a:r>
            <a:r>
              <a:rPr lang="it-IT" sz="1600" dirty="0"/>
              <a:t> a 1:1 mapping </a:t>
            </a:r>
            <a:r>
              <a:rPr lang="it-IT" sz="1600" dirty="0" err="1"/>
              <a:t>between</a:t>
            </a:r>
            <a:r>
              <a:rPr lang="it-IT" sz="1600" dirty="0"/>
              <a:t> </a:t>
            </a:r>
            <a:r>
              <a:rPr lang="it-IT" sz="1600" dirty="0" err="1"/>
              <a:t>characters</a:t>
            </a:r>
            <a:r>
              <a:rPr lang="it-IT" sz="1600" dirty="0"/>
              <a:t> and 8-bit </a:t>
            </a:r>
            <a:r>
              <a:rPr lang="it-IT" sz="1600" dirty="0" err="1"/>
              <a:t>values</a:t>
            </a:r>
            <a:r>
              <a:rPr lang="it-IT" sz="1600" dirty="0"/>
              <a:t>.</a:t>
            </a:r>
          </a:p>
          <a:p>
            <a:endParaRPr lang="it-IT" sz="1600" dirty="0"/>
          </a:p>
          <a:p>
            <a:r>
              <a:rPr lang="it-IT" sz="1600" dirty="0"/>
              <a:t>Two core </a:t>
            </a:r>
            <a:r>
              <a:rPr lang="it-IT" sz="1600" dirty="0" err="1"/>
              <a:t>experiments</a:t>
            </a:r>
            <a:r>
              <a:rPr lang="it-IT" sz="1600" dirty="0"/>
              <a:t>:</a:t>
            </a:r>
          </a:p>
          <a:p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/>
              <a:t>Experiment</a:t>
            </a:r>
            <a:r>
              <a:rPr lang="it-IT" sz="1600" dirty="0"/>
              <a:t> </a:t>
            </a:r>
            <a:r>
              <a:rPr lang="it-IT" sz="1600" b="1" dirty="0"/>
              <a:t>A</a:t>
            </a:r>
            <a:r>
              <a:rPr lang="it-IT" sz="1600" dirty="0"/>
              <a:t>: the goal </a:t>
            </a:r>
            <a:r>
              <a:rPr lang="it-IT" sz="1600" dirty="0" err="1"/>
              <a:t>is</a:t>
            </a:r>
            <a:r>
              <a:rPr lang="it-IT" sz="1600" dirty="0"/>
              <a:t> to test the impact of </a:t>
            </a:r>
            <a:r>
              <a:rPr lang="it-IT" sz="1600" dirty="0" err="1"/>
              <a:t>exponential</a:t>
            </a:r>
            <a:r>
              <a:rPr lang="it-IT" sz="1600" dirty="0"/>
              <a:t> </a:t>
            </a:r>
            <a:r>
              <a:rPr lang="it-IT" sz="1600" dirty="0" err="1"/>
              <a:t>memory</a:t>
            </a:r>
            <a:r>
              <a:rPr lang="it-IT" sz="1600" dirty="0"/>
              <a:t> </a:t>
            </a:r>
            <a:r>
              <a:rPr lang="it-IT" sz="1600" dirty="0" err="1"/>
              <a:t>requirements</a:t>
            </a:r>
            <a:r>
              <a:rPr lang="it-IT" sz="1600" dirty="0"/>
              <a:t> </a:t>
            </a:r>
            <a:r>
              <a:rPr lang="it-IT" sz="1600" dirty="0" err="1"/>
              <a:t>varying</a:t>
            </a:r>
            <a:r>
              <a:rPr lang="it-IT" sz="1600" dirty="0"/>
              <a:t> the </a:t>
            </a:r>
            <a:r>
              <a:rPr lang="it-IT" sz="1600" dirty="0" err="1"/>
              <a:t>N-gram</a:t>
            </a:r>
            <a:r>
              <a:rPr lang="it-IT" sz="1600" dirty="0"/>
              <a:t> size </a:t>
            </a:r>
            <a:r>
              <a:rPr lang="it-IT" sz="1600" dirty="0" err="1"/>
              <a:t>while</a:t>
            </a:r>
            <a:r>
              <a:rPr lang="it-IT" sz="1600" dirty="0"/>
              <a:t> keeping the corpus size </a:t>
            </a:r>
            <a:r>
              <a:rPr lang="it-IT" sz="1600" dirty="0" err="1"/>
              <a:t>fixed</a:t>
            </a: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/>
              <a:t>Experiment</a:t>
            </a:r>
            <a:r>
              <a:rPr lang="it-IT" sz="1600" dirty="0"/>
              <a:t> </a:t>
            </a:r>
            <a:r>
              <a:rPr lang="it-IT" sz="1600" b="1" dirty="0"/>
              <a:t>B</a:t>
            </a:r>
            <a:r>
              <a:rPr lang="it-IT" sz="1600" dirty="0"/>
              <a:t>: </a:t>
            </a:r>
            <a:r>
              <a:rPr lang="it-IT" sz="1600" dirty="0" err="1"/>
              <a:t>tests</a:t>
            </a:r>
            <a:r>
              <a:rPr lang="it-IT" sz="1600" dirty="0"/>
              <a:t> the performance by </a:t>
            </a:r>
            <a:r>
              <a:rPr lang="it-IT" sz="1600" dirty="0" err="1"/>
              <a:t>varying</a:t>
            </a:r>
            <a:r>
              <a:rPr lang="it-IT" sz="1600" dirty="0"/>
              <a:t> the corpus size </a:t>
            </a:r>
            <a:r>
              <a:rPr lang="it-IT" sz="1600" dirty="0" err="1"/>
              <a:t>while</a:t>
            </a:r>
            <a:r>
              <a:rPr lang="it-IT" sz="1600" dirty="0"/>
              <a:t> keeping </a:t>
            </a:r>
            <a:r>
              <a:rPr lang="it-IT" sz="1600" dirty="0" err="1"/>
              <a:t>n</a:t>
            </a:r>
            <a:r>
              <a:rPr lang="it-IT" sz="1600" dirty="0"/>
              <a:t> </a:t>
            </a:r>
            <a:r>
              <a:rPr lang="it-IT" sz="1600" dirty="0" err="1"/>
              <a:t>fixed</a:t>
            </a:r>
            <a:r>
              <a:rPr lang="it-IT" sz="1600" dirty="0"/>
              <a:t> to test the throughput </a:t>
            </a:r>
            <a:r>
              <a:rPr lang="it-IT" sz="1600" dirty="0" err="1"/>
              <a:t>scalabilty</a:t>
            </a:r>
            <a:endParaRPr lang="it-IT" sz="1600" dirty="0"/>
          </a:p>
        </p:txBody>
      </p:sp>
    </p:spTree>
    <p:extLst>
      <p:ext uri="{BB962C8B-B14F-4D97-AF65-F5344CB8AC3E}">
        <p14:creationId xmlns:p14="http://schemas.microsoft.com/office/powerpoint/2010/main" val="4089084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03266-E4A9-32B4-BEE0-24FC96EA0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AF48C579-8C3C-D14B-75E3-99387F73A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490" y="0"/>
            <a:ext cx="9180512" cy="687263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CDA18FEE-B0C0-8243-28E6-CE559FBBFBCB}"/>
              </a:ext>
            </a:extLst>
          </p:cNvPr>
          <p:cNvSpPr txBox="1"/>
          <p:nvPr/>
        </p:nvSpPr>
        <p:spPr>
          <a:xfrm>
            <a:off x="648252" y="1305402"/>
            <a:ext cx="65219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Experiment A: </a:t>
            </a:r>
            <a:r>
              <a:rPr lang="it-IT" sz="24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Scalability</a:t>
            </a:r>
            <a:r>
              <a:rPr lang="it-IT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vs </a:t>
            </a:r>
            <a:r>
              <a:rPr lang="it-IT" sz="24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Complexity</a:t>
            </a:r>
            <a:r>
              <a:rPr lang="it-IT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(</a:t>
            </a:r>
            <a:r>
              <a:rPr lang="it-IT" sz="24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n</a:t>
            </a:r>
            <a:r>
              <a:rPr lang="it-IT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)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F994D3A-8377-8FB9-F18F-81EC3E1876CC}"/>
              </a:ext>
            </a:extLst>
          </p:cNvPr>
          <p:cNvSpPr txBox="1"/>
          <p:nvPr/>
        </p:nvSpPr>
        <p:spPr>
          <a:xfrm>
            <a:off x="648253" y="17051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>
              <a:latin typeface="Arial"/>
              <a:cs typeface="Arial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56356A9D-9B5C-D1A9-610D-B9376785978E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9E0B2FE3-8D05-E9F0-D31E-8F6ED53DA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11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C8A97752-D8A8-9509-E8A6-D5CCB1C7E8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1377" y="2526824"/>
            <a:ext cx="5310690" cy="3097902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FF8BD7B6-CAAE-3A3D-D25E-459B3EE178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855" y="2783128"/>
            <a:ext cx="3749387" cy="2624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053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35D23-D2D5-ED0A-F32E-A08AE1458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B48C00BC-8969-85FE-C229-0F2781E30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490" y="0"/>
            <a:ext cx="9180512" cy="687263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DF19C84F-2BBB-FAA8-03DF-91168DBC6533}"/>
              </a:ext>
            </a:extLst>
          </p:cNvPr>
          <p:cNvSpPr txBox="1"/>
          <p:nvPr/>
        </p:nvSpPr>
        <p:spPr>
          <a:xfrm>
            <a:off x="648252" y="1305402"/>
            <a:ext cx="65219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Experiment B: </a:t>
            </a:r>
            <a:r>
              <a:rPr lang="it-IT" sz="24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Scalability</a:t>
            </a:r>
            <a:r>
              <a:rPr lang="it-IT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vs Data Size (N)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6DC74F5-0390-188F-3696-3FB71D4358DC}"/>
              </a:ext>
            </a:extLst>
          </p:cNvPr>
          <p:cNvSpPr txBox="1"/>
          <p:nvPr/>
        </p:nvSpPr>
        <p:spPr>
          <a:xfrm>
            <a:off x="648253" y="17051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>
              <a:latin typeface="Arial"/>
              <a:cs typeface="Arial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881965D7-F632-3A3F-9750-4EC89880C318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5B7BAE22-94E1-0B06-91EE-176AED4AD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12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B3C92F97-7A18-7119-18D0-4B53E8DE68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74156"/>
            <a:ext cx="4923263" cy="2953958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D0A1E4C2-ED08-0AB7-341E-191777CA12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0735" y="2469639"/>
            <a:ext cx="4923265" cy="295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8580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02AEF-8F92-100E-528C-C8C917EDA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CA2269F3-C973-066F-FEC2-ECCE19E05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490" y="0"/>
            <a:ext cx="9180512" cy="687263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4016AAB8-C08C-29CB-6559-E5AD9EC5677D}"/>
              </a:ext>
            </a:extLst>
          </p:cNvPr>
          <p:cNvSpPr txBox="1"/>
          <p:nvPr/>
        </p:nvSpPr>
        <p:spPr>
          <a:xfrm>
            <a:off x="648252" y="1305402"/>
            <a:ext cx="65219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Experiment B: </a:t>
            </a:r>
            <a:r>
              <a:rPr lang="it-IT" sz="24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Scalability</a:t>
            </a:r>
            <a:r>
              <a:rPr lang="it-IT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vs Data Size (N)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5F3E29C-5239-1D37-785B-FBF479CCDE54}"/>
              </a:ext>
            </a:extLst>
          </p:cNvPr>
          <p:cNvSpPr txBox="1"/>
          <p:nvPr/>
        </p:nvSpPr>
        <p:spPr>
          <a:xfrm>
            <a:off x="648253" y="17051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>
              <a:latin typeface="Arial"/>
              <a:cs typeface="Arial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DB7FD5CD-93EC-2E62-68CE-5A91C021BF3F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DF44E923-073C-72A6-D6D4-6B48EAEDA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13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19645FD4-1E73-FF97-9F2E-AC1FDF1ACE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0" y="2474156"/>
            <a:ext cx="4953000" cy="297180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4368A6A1-D904-B3E9-9A55-2D4F93690D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474156"/>
            <a:ext cx="49530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537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B9171-6104-4B52-CB9E-9D64D4A52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6B9F2220-09E2-7CC1-2BE8-9F28AB9E0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490" y="0"/>
            <a:ext cx="9180512" cy="687263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F0F16CD6-3727-14D0-9264-1E1C0E4FE5B4}"/>
              </a:ext>
            </a:extLst>
          </p:cNvPr>
          <p:cNvSpPr txBox="1"/>
          <p:nvPr/>
        </p:nvSpPr>
        <p:spPr>
          <a:xfrm>
            <a:off x="648252" y="1305402"/>
            <a:ext cx="65219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Conclusions</a:t>
            </a:r>
            <a:endParaRPr lang="it-IT" sz="24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04B52FF-9890-3474-3502-3ABAD4FE8A9B}"/>
              </a:ext>
            </a:extLst>
          </p:cNvPr>
          <p:cNvSpPr txBox="1"/>
          <p:nvPr/>
        </p:nvSpPr>
        <p:spPr>
          <a:xfrm>
            <a:off x="648253" y="17051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>
              <a:latin typeface="Arial"/>
              <a:cs typeface="Arial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FA55A6D7-037C-46AF-3F9D-C030544198CE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2C3B07B0-71B4-1307-99BB-0EA13B083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14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7517FF0-9676-1E93-378C-D6434815EF46}"/>
              </a:ext>
            </a:extLst>
          </p:cNvPr>
          <p:cNvSpPr txBox="1"/>
          <p:nvPr/>
        </p:nvSpPr>
        <p:spPr>
          <a:xfrm>
            <a:off x="648253" y="2291993"/>
            <a:ext cx="7887510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/>
              <a:t>There</a:t>
            </a:r>
            <a:r>
              <a:rPr lang="it-IT" sz="1600" dirty="0"/>
              <a:t> </a:t>
            </a:r>
            <a:r>
              <a:rPr lang="it-IT" sz="1600" dirty="0" err="1"/>
              <a:t>is</a:t>
            </a:r>
            <a:r>
              <a:rPr lang="it-IT" sz="1600" dirty="0"/>
              <a:t> no single best </a:t>
            </a:r>
            <a:r>
              <a:rPr lang="it-IT" sz="1600" dirty="0" err="1"/>
              <a:t>algorithm</a:t>
            </a:r>
            <a:r>
              <a:rPr lang="it-IT" sz="1600" dirty="0"/>
              <a:t>; </a:t>
            </a:r>
            <a:r>
              <a:rPr lang="it-IT" sz="1600" dirty="0" err="1"/>
              <a:t>efficiency</a:t>
            </a:r>
            <a:r>
              <a:rPr lang="it-IT" sz="1600" dirty="0"/>
              <a:t> </a:t>
            </a:r>
            <a:r>
              <a:rPr lang="it-IT" sz="1600" dirty="0" err="1"/>
              <a:t>depends</a:t>
            </a:r>
            <a:r>
              <a:rPr lang="it-IT" sz="1600" dirty="0"/>
              <a:t> </a:t>
            </a:r>
            <a:r>
              <a:rPr lang="it-IT" sz="1600" dirty="0" err="1"/>
              <a:t>strictly</a:t>
            </a:r>
            <a:r>
              <a:rPr lang="it-IT" sz="1600" dirty="0"/>
              <a:t> on </a:t>
            </a:r>
            <a:r>
              <a:rPr lang="it-IT" sz="1600" dirty="0" err="1"/>
              <a:t>problem</a:t>
            </a:r>
            <a:r>
              <a:rPr lang="it-IT" sz="1600" dirty="0"/>
              <a:t> </a:t>
            </a:r>
            <a:r>
              <a:rPr lang="it-IT" sz="1600" dirty="0" err="1"/>
              <a:t>complexity</a:t>
            </a:r>
            <a:r>
              <a:rPr lang="it-IT" sz="1600" dirty="0"/>
              <a:t> (</a:t>
            </a:r>
            <a:r>
              <a:rPr lang="it-IT" sz="1600" dirty="0" err="1"/>
              <a:t>n</a:t>
            </a:r>
            <a:r>
              <a:rPr lang="it-IT" sz="1600" dirty="0"/>
              <a:t>).</a:t>
            </a:r>
          </a:p>
          <a:p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/>
              <a:t>V1</a:t>
            </a:r>
            <a:r>
              <a:rPr lang="it-IT" sz="1600" dirty="0"/>
              <a:t>: </a:t>
            </a:r>
            <a:r>
              <a:rPr lang="it-IT" sz="1600" dirty="0" err="1"/>
              <a:t>Dominates</a:t>
            </a:r>
            <a:r>
              <a:rPr lang="it-IT" sz="1600" dirty="0"/>
              <a:t> for n≤3 due to linear time </a:t>
            </a:r>
            <a:r>
              <a:rPr lang="it-IT" sz="1600" dirty="0" err="1"/>
              <a:t>complexity</a:t>
            </a:r>
            <a:r>
              <a:rPr lang="it-IT" sz="1600" dirty="0"/>
              <a:t>, </a:t>
            </a:r>
            <a:r>
              <a:rPr lang="it-IT" sz="1600" dirty="0" err="1"/>
              <a:t>but</a:t>
            </a:r>
            <a:r>
              <a:rPr lang="it-IT" sz="1600" dirty="0"/>
              <a:t> </a:t>
            </a:r>
            <a:r>
              <a:rPr lang="it-IT" sz="1600" dirty="0" err="1"/>
              <a:t>fails</a:t>
            </a:r>
            <a:r>
              <a:rPr lang="it-IT" sz="1600" dirty="0"/>
              <a:t> </a:t>
            </a:r>
            <a:r>
              <a:rPr lang="it-IT" sz="1600" dirty="0" err="1"/>
              <a:t>at</a:t>
            </a:r>
            <a:r>
              <a:rPr lang="it-IT" sz="1600" dirty="0"/>
              <a:t> large </a:t>
            </a:r>
            <a:r>
              <a:rPr lang="it-IT" sz="1600" dirty="0" err="1"/>
              <a:t>values</a:t>
            </a:r>
            <a:r>
              <a:rPr lang="it-IT" sz="1600" dirty="0"/>
              <a:t> of </a:t>
            </a:r>
            <a:r>
              <a:rPr lang="it-IT" sz="1600" dirty="0" err="1"/>
              <a:t>n</a:t>
            </a:r>
            <a:r>
              <a:rPr lang="it-IT" sz="1600" dirty="0"/>
              <a:t> due to </a:t>
            </a:r>
            <a:r>
              <a:rPr lang="it-IT" sz="1600" dirty="0" err="1"/>
              <a:t>exponential</a:t>
            </a:r>
            <a:r>
              <a:rPr lang="it-IT" sz="1600" dirty="0"/>
              <a:t> </a:t>
            </a:r>
            <a:r>
              <a:rPr lang="it-IT" sz="1600" dirty="0" err="1"/>
              <a:t>memory</a:t>
            </a:r>
            <a:r>
              <a:rPr lang="it-IT" sz="1600" dirty="0"/>
              <a:t> </a:t>
            </a:r>
            <a:r>
              <a:rPr lang="it-IT" sz="1600" dirty="0" err="1"/>
              <a:t>limits</a:t>
            </a:r>
            <a:r>
              <a:rPr lang="it-IT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/>
              <a:t>V2</a:t>
            </a:r>
            <a:r>
              <a:rPr lang="it-IT" sz="1600" dirty="0"/>
              <a:t>: The </a:t>
            </a:r>
            <a:r>
              <a:rPr lang="it-IT" sz="1600" dirty="0" err="1"/>
              <a:t>memory</a:t>
            </a:r>
            <a:r>
              <a:rPr lang="it-IT" sz="1600" dirty="0"/>
              <a:t> </a:t>
            </a:r>
            <a:r>
              <a:rPr lang="it-IT" sz="1600" dirty="0" err="1"/>
              <a:t>multiplier</a:t>
            </a:r>
            <a:r>
              <a:rPr lang="it-IT" sz="1600" dirty="0"/>
              <a:t> </a:t>
            </a:r>
            <a:r>
              <a:rPr lang="it-IT" sz="1600" dirty="0" err="1"/>
              <a:t>causes</a:t>
            </a:r>
            <a:r>
              <a:rPr lang="it-IT" sz="1600" dirty="0"/>
              <a:t> </a:t>
            </a:r>
            <a:r>
              <a:rPr lang="it-IT" sz="1600" dirty="0" err="1"/>
              <a:t>early</a:t>
            </a:r>
            <a:r>
              <a:rPr lang="it-IT" sz="1600" dirty="0"/>
              <a:t> OOM </a:t>
            </a:r>
            <a:r>
              <a:rPr lang="it-IT" sz="1600" dirty="0" err="1"/>
              <a:t>failures</a:t>
            </a:r>
            <a:r>
              <a:rPr lang="it-IT" sz="1600" dirty="0"/>
              <a:t> (n≥3) and overhead </a:t>
            </a:r>
            <a:r>
              <a:rPr lang="it-IT" sz="1600" dirty="0" err="1"/>
              <a:t>slows</a:t>
            </a:r>
            <a:r>
              <a:rPr lang="it-IT" sz="1600" dirty="0"/>
              <a:t> down low-</a:t>
            </a:r>
            <a:r>
              <a:rPr lang="it-IT" sz="1600" dirty="0" err="1"/>
              <a:t>complexity</a:t>
            </a:r>
            <a:r>
              <a:rPr lang="it-IT" sz="1600" dirty="0"/>
              <a:t> </a:t>
            </a:r>
            <a:r>
              <a:rPr lang="it-IT" sz="1600" dirty="0" err="1"/>
              <a:t>cases</a:t>
            </a:r>
            <a:r>
              <a:rPr lang="it-IT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/>
              <a:t>B</a:t>
            </a:r>
            <a:r>
              <a:rPr lang="it-IT" sz="1600" dirty="0"/>
              <a:t>:</a:t>
            </a:r>
            <a:r>
              <a:rPr lang="it-IT" sz="1600" b="1" dirty="0"/>
              <a:t> </a:t>
            </a:r>
            <a:r>
              <a:rPr lang="it-IT" sz="1600" dirty="0"/>
              <a:t>The </a:t>
            </a:r>
            <a:r>
              <a:rPr lang="it-IT" sz="1600" dirty="0" err="1"/>
              <a:t>only</a:t>
            </a:r>
            <a:r>
              <a:rPr lang="it-IT" sz="1600" dirty="0"/>
              <a:t> </a:t>
            </a:r>
            <a:r>
              <a:rPr lang="it-IT" sz="1600" dirty="0" err="1"/>
              <a:t>viable</a:t>
            </a:r>
            <a:r>
              <a:rPr lang="it-IT" sz="1600" dirty="0"/>
              <a:t> option for high-</a:t>
            </a:r>
            <a:r>
              <a:rPr lang="it-IT" sz="1600" dirty="0" err="1"/>
              <a:t>complexity</a:t>
            </a:r>
            <a:r>
              <a:rPr lang="it-IT" sz="1600" dirty="0"/>
              <a:t> domains (n≥4) thanks to linear </a:t>
            </a:r>
            <a:r>
              <a:rPr lang="it-IT" sz="1600" dirty="0" err="1"/>
              <a:t>memory</a:t>
            </a:r>
            <a:r>
              <a:rPr lang="it-IT" sz="1600" dirty="0"/>
              <a:t> </a:t>
            </a:r>
            <a:r>
              <a:rPr lang="it-IT" sz="1600" dirty="0" err="1"/>
              <a:t>complexity</a:t>
            </a:r>
            <a:r>
              <a:rPr lang="it-IT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dirty="0"/>
          </a:p>
          <a:p>
            <a:endParaRPr lang="it-IT" sz="1600" dirty="0"/>
          </a:p>
        </p:txBody>
      </p:sp>
    </p:spTree>
    <p:extLst>
      <p:ext uri="{BB962C8B-B14F-4D97-AF65-F5344CB8AC3E}">
        <p14:creationId xmlns:p14="http://schemas.microsoft.com/office/powerpoint/2010/main" val="19016192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2724</TotalTime>
  <Words>861</Words>
  <Application>Microsoft Macintosh PowerPoint</Application>
  <PresentationFormat>Presentazione su schermo (4:3)</PresentationFormat>
  <Paragraphs>125</Paragraphs>
  <Slides>14</Slides>
  <Notes>14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 Math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di PowerPoint</dc:title>
  <dc:creator>susanna</dc:creator>
  <cp:lastModifiedBy>Alessandro Bianco</cp:lastModifiedBy>
  <cp:revision>38</cp:revision>
  <dcterms:created xsi:type="dcterms:W3CDTF">2012-12-06T09:21:12Z</dcterms:created>
  <dcterms:modified xsi:type="dcterms:W3CDTF">2026-01-14T09:40:20Z</dcterms:modified>
</cp:coreProperties>
</file>